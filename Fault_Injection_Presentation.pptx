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0"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embeddedFontLst>
    <p:embeddedFont>
      <p:font typeface="Raleway"/>
      <p:regular r:id="rId27"/>
      <p:bold r:id="rId28"/>
      <p:italic r:id="rId29"/>
      <p:boldItalic r:id="rId30"/>
    </p:embeddedFont>
    <p:embeddedFont>
      <p:font typeface="Lato"/>
      <p:regular r:id="rId31"/>
      <p:bold r:id="rId32"/>
      <p:italic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aleway-italic.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regular.fntdata"/><Relationship Id="rId30" Type="http://schemas.openxmlformats.org/officeDocument/2006/relationships/font" Target="fonts/Raleway-boldItalic.fntdata"/><Relationship Id="rId11" Type="http://schemas.openxmlformats.org/officeDocument/2006/relationships/slide" Target="slides/slide6.xml"/><Relationship Id="rId33" Type="http://schemas.openxmlformats.org/officeDocument/2006/relationships/font" Target="fonts/Lato-italic.fntdata"/><Relationship Id="rId10" Type="http://schemas.openxmlformats.org/officeDocument/2006/relationships/slide" Target="slides/slide5.xml"/><Relationship Id="rId32" Type="http://schemas.openxmlformats.org/officeDocument/2006/relationships/font" Target="fonts/Lato-bold.fntdata"/><Relationship Id="rId13" Type="http://schemas.openxmlformats.org/officeDocument/2006/relationships/slide" Target="slides/slide8.xml"/><Relationship Id="rId12" Type="http://schemas.openxmlformats.org/officeDocument/2006/relationships/slide" Target="slides/slide7.xml"/><Relationship Id="rId34" Type="http://schemas.openxmlformats.org/officeDocument/2006/relationships/font" Target="fonts/Lato-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a5c97b17d6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a5c97b17d6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Εμε</a:t>
            </a:r>
            <a:r>
              <a:rPr lang="el"/>
              <a:t>ίς θα παρουσιάσουμε το θέμα “Testing Reliability using Fault Injection”. </a:t>
            </a:r>
            <a:r>
              <a:rPr lang="el">
                <a:solidFill>
                  <a:schemeClr val="dk1"/>
                </a:solidFill>
              </a:rPr>
              <a:t>Συγκεκριμένα, θα μιλήσουμε για το τι είναι το Fault Injection, με ποιες μεθόδους μπορεί να υλοποιηθεί και μερικά case study που έχουν διεξαχθεί τα τελευταία χρόνια.</a:t>
            </a:r>
            <a:endParaRPr/>
          </a:p>
          <a:p>
            <a:pPr indent="0" lvl="0" marL="0" rtl="0" algn="l">
              <a:spcBef>
                <a:spcPts val="0"/>
              </a:spcBef>
              <a:spcAft>
                <a:spcPts val="0"/>
              </a:spcAft>
              <a:buNone/>
            </a:pPr>
            <a:r>
              <a:t/>
            </a:r>
            <a:endParaRPr>
              <a:solidFill>
                <a:srgbClr val="666666"/>
              </a:solidFill>
            </a:endParaRPr>
          </a:p>
          <a:p>
            <a:pPr indent="0" lvl="0" marL="0" rtl="0" algn="l">
              <a:spcBef>
                <a:spcPts val="0"/>
              </a:spcBef>
              <a:spcAft>
                <a:spcPts val="0"/>
              </a:spcAft>
              <a:buNone/>
            </a:pPr>
            <a:r>
              <a:rPr lang="el">
                <a:solidFill>
                  <a:srgbClr val="666666"/>
                </a:solidFill>
              </a:rPr>
              <a:t>Θα </a:t>
            </a:r>
            <a:r>
              <a:rPr lang="el">
                <a:solidFill>
                  <a:srgbClr val="666666"/>
                </a:solidFill>
              </a:rPr>
              <a:t>παρουσιάσουμε</a:t>
            </a:r>
            <a:r>
              <a:rPr lang="el">
                <a:solidFill>
                  <a:srgbClr val="666666"/>
                </a:solidFill>
              </a:rPr>
              <a:t> μερικ</a:t>
            </a:r>
            <a:r>
              <a:rPr lang="el">
                <a:solidFill>
                  <a:srgbClr val="666666"/>
                </a:solidFill>
              </a:rPr>
              <a:t>ά papers σχετικά με το θέμα του Fault Injection. Συγκεκριμένα, θα μιλήσουμε για το τι είναι το Fault Injection, με ποιες μεθόδους </a:t>
            </a:r>
            <a:r>
              <a:rPr lang="el">
                <a:solidFill>
                  <a:srgbClr val="666666"/>
                </a:solidFill>
              </a:rPr>
              <a:t>μπορεί</a:t>
            </a:r>
            <a:r>
              <a:rPr lang="el">
                <a:solidFill>
                  <a:srgbClr val="666666"/>
                </a:solidFill>
              </a:rPr>
              <a:t> να υλοποιηθεί, και μερικά case study που έχουν διεξαχθεί τα τελευταία χρόνια μέσω αυτών των μεθόδων.</a:t>
            </a:r>
            <a:endParaRPr>
              <a:solidFill>
                <a:srgbClr val="666666"/>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8662d2f123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8662d2f123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Εδ</a:t>
            </a:r>
            <a:r>
              <a:rPr lang="el"/>
              <a:t>ώ βλέπουμε την δομή της παρουσίασης. Θα ξεκινήσουμε με μια σύντομη εισαγωγή καθώς και μια ιστορική αναφορά του θέματος. Έπειτα θα μιλήσουμε για τις διάφορες μεθόδους εισαγωγής σφαλμάτων.</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g38662d2f123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 name="Google Shape;100;g38662d2f123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Ένα πρόβλημα που έχουμε παρατηρήσει είναι πως </a:t>
            </a:r>
            <a:r>
              <a:rPr lang="el"/>
              <a:t>οποιουδήποτε</a:t>
            </a:r>
            <a:r>
              <a:rPr lang="el"/>
              <a:t> είδους ηλεκτρονική λογική είναι σε κάποιο βαθμό ευαίσθητη σε κοσμική ακτινοβολία, δημιουργώντας διάφορα σφάλματα.</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Το φαινόμενο αυτό γίνεται ακόμη πιό εμφανές με την τάση της βιομηχανίας να μικραίνει </a:t>
            </a:r>
            <a:r>
              <a:rPr lang="el"/>
              <a:t>όσο</a:t>
            </a:r>
            <a:r>
              <a:rPr lang="el"/>
              <a:t> περισσότερο γίνεται τα ηλεκτρονικά στοιχεία που </a:t>
            </a:r>
            <a:r>
              <a:rPr lang="el"/>
              <a:t>αποτελούν</a:t>
            </a:r>
            <a:r>
              <a:rPr lang="el"/>
              <a:t> τους σύγχρονους επεξεργαστές και FPGA που μπορεί να </a:t>
            </a:r>
            <a:r>
              <a:rPr lang="el"/>
              <a:t>χρησιμοποιηθούν</a:t>
            </a:r>
            <a:r>
              <a:rPr lang="el"/>
              <a:t> σε διαστημικές αποστολές.</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8662d2f12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8662d2f12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Πιο συγκεκριμ</a:t>
            </a:r>
            <a:r>
              <a:rPr lang="el"/>
              <a:t>ένα, η ενέργεια που έχουν οι ακτίνες της κοσμικής ακτινοβολίας, είναι ικανές κατα την διέλευση τους απο τα transistors που είναι υπεύθυνα για την αποθήκευση δεδομένων (bits) να αλλάξουν την κατάσταση τους, αλλοιώνοντας την αποθηκευμένη πληροφορία, το λεγόμενο bit-flip.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Τέτοιου είδους faults χωρίζονται σε δύο κύριες κατηγορίες, τα Single Event Upset, όπου μεταβάλλεται μόνο ένα bit σε μια μονάδα μνήμης, και τα Multiple-Bit Upset, όπου παρατηρείται μια συνεχείς </a:t>
            </a:r>
            <a:r>
              <a:rPr lang="el"/>
              <a:t>μεταβολή</a:t>
            </a:r>
            <a:r>
              <a:rPr lang="el"/>
              <a:t> πολλαπλών bit σε πολλαπλές μονάδες μνήμης.</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8662d2f123_0_7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8662d2f123_0_7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Οπ</a:t>
            </a:r>
            <a:r>
              <a:rPr lang="el"/>
              <a:t>ότε τι είναι το </a:t>
            </a:r>
            <a:r>
              <a:rPr lang="el"/>
              <a:t>Fault Injection;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Το Fault Injection ε</a:t>
            </a:r>
            <a:r>
              <a:rPr lang="el"/>
              <a:t>ίναι μια μέθοδος αναπαραγωγής αυτών των προβλημάτων με έναν προβλέψιμο και μετρήσιμο τρόπο. Αυτή η μέθοδος επιτρέπει στους κατασκευαστές να παράξουν κατάλληλα τεστ για τον έλεγχο αξιοπιστίας του </a:t>
            </a:r>
            <a:r>
              <a:rPr lang="el">
                <a:solidFill>
                  <a:schemeClr val="dk1"/>
                </a:solidFill>
              </a:rPr>
              <a:t>υλικο-λογισμικού που σχεδιάζουν και να βρουν κατάλληλες λύσεις για προβλήματα όπως τα bit-flips. Η εισαγωγή σφαλμάτων μπορεί να υλοποιηθεί με διάφορους τρόπους, και πιο συγκεκριμένα με τρεις διαφορετικές μεθόδους…</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g38662d2f123_0_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9" name="Google Shape;119;g38662d2f123_0_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Ο πρ</a:t>
            </a:r>
            <a:r>
              <a:rPr lang="el"/>
              <a:t>ώτος τρόπος </a:t>
            </a:r>
            <a:r>
              <a:rPr lang="el"/>
              <a:t>υλοποίησης</a:t>
            </a:r>
            <a:r>
              <a:rPr lang="el"/>
              <a:t> fault injection τεστ είναι απευθείας πάνω στο hardware.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H χρήση hardware για τη μέθοδο αυτή ξεκίνησε τη δεκαετία του 70 με ερευνητές στην IBM και την NASA οι οποίοι ήθελαν να δημιουργήσουν με μια ελεγχόμενη μεθοδολογία τα αποτελέσματα </a:t>
            </a:r>
            <a:r>
              <a:rPr lang="el"/>
              <a:t>φαινομένων</a:t>
            </a:r>
            <a:r>
              <a:rPr lang="el"/>
              <a:t> όπως η κοσμική ακτινοβολία που αναφέραμε, στο υλικό που σχεδίαζαν.</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Ξεκίνησαν</a:t>
            </a:r>
            <a:r>
              <a:rPr lang="el"/>
              <a:t> με το να δοκιμάζουν hardware </a:t>
            </a:r>
            <a:r>
              <a:rPr lang="el"/>
              <a:t>μέσα</a:t>
            </a:r>
            <a:r>
              <a:rPr lang="el"/>
              <a:t> σε </a:t>
            </a:r>
            <a:r>
              <a:rPr lang="el"/>
              <a:t>επιταχυντές</a:t>
            </a:r>
            <a:r>
              <a:rPr lang="el"/>
              <a:t> οι οποίοι </a:t>
            </a:r>
            <a:r>
              <a:rPr lang="el"/>
              <a:t>προσομοιάζουν</a:t>
            </a:r>
            <a:r>
              <a:rPr lang="el"/>
              <a:t> συνθήκες διαστήματος με την έγχυση ακτινοβολιών και ιόντων, καθώς και να πειράζουν χειροκίνητα τα pins στους επεξεργαστές με στόχο την δημιουργία σφαλμάτων.</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Όμως όπως μπορείτε να φανταστείτε αυτό είναι αδύνατο σήμερα με το μικροσκοπικό μέγεθος των κυκλωμάτων που σχεδιάζουμε, και η χρήση επιταχυντών εισάγει έναν μεγάλο βαθμό αβεβαιότητας.</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af8e025c44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af8e025c44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Μετ</a:t>
            </a:r>
            <a:r>
              <a:rPr lang="el"/>
              <a:t>ά του φυσικούς περιορισμούς που εμφανίστηκαν στις αρχές του hardware fault injection, η κοινότητα στράφηκε σε τεχνικές με την χρήση λογισμικού.</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Η μέθοδος αυτή εστιάζει στην </a:t>
            </a:r>
            <a:r>
              <a:rPr lang="el"/>
              <a:t>προσομοίωση</a:t>
            </a:r>
            <a:r>
              <a:rPr lang="el"/>
              <a:t> </a:t>
            </a:r>
            <a:r>
              <a:rPr lang="el"/>
              <a:t>σφαλμάτων</a:t>
            </a:r>
            <a:r>
              <a:rPr lang="el"/>
              <a:t> </a:t>
            </a:r>
            <a:r>
              <a:rPr lang="el"/>
              <a:t>από</a:t>
            </a:r>
            <a:r>
              <a:rPr lang="el"/>
              <a:t> το ίδιο το λογισμικό. Στις αρχές της δεκαετίας του 90 εμφανίστηκαν διάφορα εργαλεία όπως το FIAT και το FERRARI τα οποία </a:t>
            </a:r>
            <a:r>
              <a:rPr lang="el"/>
              <a:t>επιτρέπουν</a:t>
            </a:r>
            <a:r>
              <a:rPr lang="el"/>
              <a:t> την αλλοίωση δεδομένων σε επίπεδο καταχωρητών, σταματώντας προσωρινά την λειτουργία του επεξεργαστή για την μεταβολή συγκεκριμένων bit, </a:t>
            </a:r>
            <a:r>
              <a:rPr lang="el"/>
              <a:t>προσομοιώνοντας</a:t>
            </a:r>
            <a:r>
              <a:rPr lang="el"/>
              <a:t> SEU.</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Ως αποτέλεσμα, με την χρήση software τεχνικών, η δημιουργία test γίνεται σε αρκετά σύντομο χρονικό διάστημα, κάτι που δεν παρατηρείται και με hardware τεχνικές.</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f8e025c44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f8e025c44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Τ</a:t>
            </a:r>
            <a:r>
              <a:rPr lang="el"/>
              <a:t>έλος, υπάρχει και η μέθοδος προσομοίωσης για την </a:t>
            </a:r>
            <a:r>
              <a:rPr lang="el"/>
              <a:t>εισαγωγή</a:t>
            </a:r>
            <a:r>
              <a:rPr lang="el"/>
              <a:t> σφαλμάτων. Η διαφορά της με την μέθοδο λογισμικού είναι ότι η εισαγωγή των σφαλμάτων </a:t>
            </a:r>
            <a:r>
              <a:rPr lang="el"/>
              <a:t>γίνεται</a:t>
            </a:r>
            <a:r>
              <a:rPr lang="el"/>
              <a:t> πριν την κατασκευή του κυκλώματος, κάνοντας fault injection απευθείας στο μοντέλου υλικού μέσα στο περιβάλλον προσομοίωσης του.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Η μέθοδος αυτή σε σύγκριση με την χρήση υλικού έχει πολύ χαμηλότερο κόστος </a:t>
            </a:r>
            <a:r>
              <a:rPr lang="el"/>
              <a:t>υλοποίησης</a:t>
            </a:r>
            <a:r>
              <a:rPr lang="el"/>
              <a:t> καθώς και μειωμένο χρόνο παραγωγής. Επιπλέον δίνει απόλυτο έλεγχο στους σχεδιαστές σε επίπεδο nanosecond, κάτι που δεν είναι </a:t>
            </a:r>
            <a:r>
              <a:rPr lang="el"/>
              <a:t>εφικτό</a:t>
            </a:r>
            <a:r>
              <a:rPr lang="el"/>
              <a:t> σε software και αρκετά δύσκολο να </a:t>
            </a:r>
            <a:r>
              <a:rPr lang="el"/>
              <a:t>υλοποιηθεί</a:t>
            </a:r>
            <a:r>
              <a:rPr lang="el"/>
              <a:t> σε επίπεδο hardware.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5c97b17d6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5c97b17d6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Επιστρ</a:t>
            </a:r>
            <a:r>
              <a:rPr lang="el"/>
              <a:t>έφοντας πίσω στην εμφάνιση σφαλμάτων με την χρήση hardware, για την υλοποίηση της πρακτικής αυτής </a:t>
            </a:r>
            <a:r>
              <a:rPr lang="el"/>
              <a:t>χρησιμοποιούμε</a:t>
            </a:r>
            <a:r>
              <a:rPr lang="el"/>
              <a:t> ειδικά-προγραμματισμένα </a:t>
            </a:r>
            <a:r>
              <a:rPr lang="el"/>
              <a:t>FPGA για την </a:t>
            </a:r>
            <a:r>
              <a:rPr lang="el"/>
              <a:t>μεταβολή</a:t>
            </a:r>
            <a:r>
              <a:rPr lang="el"/>
              <a:t> των θέσεων μνήμης και την αλλαγή των bits, καθώς και συσκευών EMP που είναι ικανές να παράγουν ηλεκτρομαγνητικούς παλμούς. Η πρακτική αυτή εφαρμόζεται πάνω και σε απλούς επεξεργαστές όπως αυτούς που μπορούμε να βρούμε σε μικροελεγκτές, καθώς και σε άλλα FPGA.</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Μέσω</a:t>
            </a:r>
            <a:r>
              <a:rPr lang="el"/>
              <a:t> των τεχνικών αυτών, οι σχεδιαστές μπορούν να παράξουν τυχαία bit-flip, δηλαδή SEU, MBU, καθώς και να προκαλέσουν glitches </a:t>
            </a:r>
            <a:r>
              <a:rPr lang="el"/>
              <a:t>πάνω</a:t>
            </a:r>
            <a:r>
              <a:rPr lang="el"/>
              <a:t> στο ρολόι αλλά και στην τροφοδοσία του hardware.</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Η μεθοδολογια αυτή παράγει σφάλματα τα οποία βρίσκονται πολύ κοντά σε συμπεριφορά με πραγματικά σφάλματα που μπορούν να εμφανιστούν.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a5c97b17d6_2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a5c97b17d6_2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Ένας προτεινόμενος τρόπος εισαγωγής σφαλμάτων με την χρήση hardware ονομάζεται FISH (Fault Injection Self-test Hardware) και έχει ως στόχο την αποδοτική εισαγωγή MBU στη διασύνδεση του σχεδίου ενός FPGA, χωρίς να μεταβάλλεται η τιμή των flip-flops που σχετίζονται με την ίδια την διαδικασία. </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Η συγκεκριμένη υλοποίηση χρησιμοποιεί 4 LFSR (Linear Feedback Shift Register) για την δημιουργία μια σειράς απο </a:t>
            </a:r>
            <a:r>
              <a:rPr lang="el"/>
              <a:t>ψευδοτυχαίες τιμές</a:t>
            </a:r>
            <a:r>
              <a:rPr lang="el"/>
              <a:t> που καθορίζουν </a:t>
            </a:r>
            <a:r>
              <a:rPr lang="el"/>
              <a:t>ποιά</a:t>
            </a:r>
            <a:r>
              <a:rPr lang="el"/>
              <a:t> bit θα μεταβληθούν κατα την διάρκεια ενός σφάλματος. Οι τιμές αυτές εκτυπώνονται αργότερα μέσω ενός </a:t>
            </a:r>
            <a:r>
              <a:rPr lang="el"/>
              <a:t>πρωτοκόλλου</a:t>
            </a:r>
            <a:r>
              <a:rPr lang="el"/>
              <a:t> Serial in Parallel out.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Στην εικόνα βλέπουμε ολόκληρη την σειρά </a:t>
            </a:r>
            <a:r>
              <a:rPr lang="el"/>
              <a:t>υλοποίησης</a:t>
            </a:r>
            <a:r>
              <a:rPr lang="el"/>
              <a:t> σε hardware. </a:t>
            </a:r>
            <a:r>
              <a:rPr lang="el"/>
              <a:t>Μέσα</a:t>
            </a:r>
            <a:r>
              <a:rPr lang="el"/>
              <a:t> σε κάθε Fault Injection element βρίσκονται τα 4 LFSR καθώς και ο έλεγχος λειτουργίας του, το controller δηλαδή.</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Ως αποτέλεσμα, η προτεινόμενη αυτή μέθοδος φαίνεται να παράγει σφάλματα με ρυθμό 111 faults/s, το οποίο σε σύγκριση μια μια διαφορετική μέθοδος εισαγωγής σφαλμάτων, την BUFIT, είναι διπλάσιο, όπου το BUFIT παρουσιάζει 53 faults/s.</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38662d2f123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5" name="Google Shape;155;g38662d2f123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Να περάσουμε λοιπόν και στην </a:t>
            </a:r>
            <a:r>
              <a:rPr lang="el"/>
              <a:t>έγχυση σφαλμάτων μέσω του λογισμικού (δηλαδή το software fault injection). To </a:t>
            </a:r>
            <a:r>
              <a:rPr lang="el">
                <a:solidFill>
                  <a:schemeClr val="dk1"/>
                </a:solidFill>
              </a:rPr>
              <a:t>software fault injection</a:t>
            </a:r>
            <a:r>
              <a:rPr lang="el"/>
              <a:t> συνήθως περιλαμβάνει μια διεργασία παρακολούθησης (το monitoring process) που διακόπτει προσωρινά </a:t>
            </a:r>
            <a:r>
              <a:rPr lang="el"/>
              <a:t>την</a:t>
            </a:r>
            <a:r>
              <a:rPr lang="el"/>
              <a:t> CPU, αλλάζει ένα bit μιας συγκεκριμένης διεύθυνσης μνήμης και στη συνέχεια επαναφέρει την εκτέλεση από εκεί που σταμάτησε. Αυτή την τεχνική χρησιμοποιούν και στο case study που σας παρουσιάζουμε, το οποίο αφορά την υλοποίηση του βασικού συστήματος πτήσης της NASA σε RISC-V επεξεργαστή που τρέχει FreeRTOS. Μια υλοποίηση που επιλέγεται ολοένα και περισσότερο στην κατασκευή μικρών δορυφόρων όπως τα CubeSat.</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Αρχικά ας πούμε </a:t>
            </a:r>
            <a:r>
              <a:rPr lang="el"/>
              <a:t>δυο</a:t>
            </a:r>
            <a:r>
              <a:rPr lang="el"/>
              <a:t> λόγια για το framework του Nasa Core Flight System (το λογισμικό </a:t>
            </a:r>
            <a:r>
              <a:rPr lang="el">
                <a:solidFill>
                  <a:schemeClr val="dk1"/>
                </a:solidFill>
              </a:rPr>
              <a:t>συστήματος πτήσης</a:t>
            </a:r>
            <a:r>
              <a:rPr lang="el"/>
              <a:t>). Όπως φαντάζομαι γνωρίζετε, οι δορυφόροι και τα διαστημόπλοια </a:t>
            </a:r>
            <a:r>
              <a:rPr lang="el"/>
              <a:t>χρειάζεται</a:t>
            </a:r>
            <a:r>
              <a:rPr lang="el"/>
              <a:t> να εκτελούν σύνθετες εργασίες όπως τη διαχείριση της τηλεμετρίας, της τηλεπικοινωνίας, την επεξεργασία δεδομένων σε πραγματικό χρόνο αλλά και την ανοχή σφαλμάτων έναντι σε error που προκαλούνται από την κοσμική ακτινοβολία. Αυτές οι ανάγκες απαιτούν ισχυρές, αποτελεσματικές αλλά και αξιόπιστες λύσεις λογισμικού, οι οποίες είναι δαπανηρές και χρονοβόρες για να αναπτυχθούν από την αρχή.</a:t>
            </a:r>
            <a:endParaRPr/>
          </a:p>
          <a:p>
            <a:pPr indent="0" lvl="0" marL="0" rtl="0" algn="l">
              <a:spcBef>
                <a:spcPts val="0"/>
              </a:spcBef>
              <a:spcAft>
                <a:spcPts val="0"/>
              </a:spcAft>
              <a:buNone/>
            </a:pPr>
            <a:r>
              <a:rPr lang="el"/>
              <a:t>Για την αντιμετώπιση αυτού του προβλήματος, η </a:t>
            </a:r>
            <a:r>
              <a:rPr lang="el">
                <a:solidFill>
                  <a:schemeClr val="dk1"/>
                </a:solidFill>
              </a:rPr>
              <a:t>Nasa</a:t>
            </a:r>
            <a:r>
              <a:rPr lang="el"/>
              <a:t> έχει </a:t>
            </a:r>
            <a:r>
              <a:rPr lang="el"/>
              <a:t>υιοθετήσει</a:t>
            </a:r>
            <a:r>
              <a:rPr lang="el"/>
              <a:t> ένα επαναχρησιμοποιήσιμο </a:t>
            </a:r>
            <a:r>
              <a:rPr lang="el"/>
              <a:t>πλαίσιο</a:t>
            </a:r>
            <a:r>
              <a:rPr lang="el"/>
              <a:t> λογισμικού (το cFS) το οποίο τους επιτρέπει να αξιοποιούν επικυρωμένα και συνδυαζόμενα στοιχεία, μειώνοντας έτσι σημαντικά τον χρόνο και το κόστος ανάπτυξης. Σε αυτό το πλαίσιο, αυτή η εργασία στοχεύει στην αξιολόγηση της ανθεκτικότητας αυτής της υλοποίησης έναντι των Single-Event Upsets (SEUs) στη μνήμη και τους καταχωρητές.</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g38662d2f123_0_1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g38662d2f123_0_1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Τα πειράματα έγιναν σε</a:t>
            </a:r>
            <a:r>
              <a:rPr lang="el"/>
              <a:t> ένα FPGA PolarFire System on a Chip που περιέχει </a:t>
            </a:r>
            <a:r>
              <a:rPr lang="el"/>
              <a:t>πυρήνες</a:t>
            </a:r>
            <a:r>
              <a:rPr lang="el"/>
              <a:t> RISC-V. Ο κώδικας μηχανής, οι σταθερές και η αρχικοποίηση για τα πτητικά δεδομένα ήταν απευθείας αποθηκευμένα στη μνήμη flash. Συνεπώς, η εισαγωγή σφαλμάτων στόχευε τα πτητικά δεδομένα της εφαρμογής που είχαν μεταφερθεί στη μνήμη RAM κατά την εκτέλεση. Αυτή περιλαμβάνει τις στατικές μεταβλητές, της δυναμικές </a:t>
            </a:r>
            <a:r>
              <a:rPr lang="el"/>
              <a:t>δεσμεύσεις</a:t>
            </a:r>
            <a:r>
              <a:rPr lang="el"/>
              <a:t> στον σωρό (heap), καθώς και κάθε διεργασία του FreeRTOS που ωθείται στη στοίβα (stack).</a:t>
            </a:r>
            <a:endParaRPr/>
          </a:p>
          <a:p>
            <a:pPr indent="0" lvl="0" marL="0" rtl="0" algn="l">
              <a:spcBef>
                <a:spcPts val="0"/>
              </a:spcBef>
              <a:spcAft>
                <a:spcPts val="0"/>
              </a:spcAft>
              <a:buNone/>
            </a:pPr>
            <a:r>
              <a:t/>
            </a:r>
            <a:endParaRPr/>
          </a:p>
          <a:p>
            <a:pPr indent="0" lvl="0" marL="0" rtl="0" algn="l">
              <a:spcBef>
                <a:spcPts val="0"/>
              </a:spcBef>
              <a:spcAft>
                <a:spcPts val="0"/>
              </a:spcAft>
              <a:buNone/>
            </a:pPr>
            <a:r>
              <a:rPr lang="el"/>
              <a:t>Τα σφάλματα που εισήχθησαν ήταν αναστροφές ενός bit και έγιναν τυχαία κατά τη διάρκεια της εκτέλεσης </a:t>
            </a:r>
            <a:r>
              <a:rPr lang="el"/>
              <a:t>μέσω</a:t>
            </a:r>
            <a:r>
              <a:rPr lang="el"/>
              <a:t> scripting σε Python από τον κεντρικό υπολογιστή. Ταυτόχρονα, ο κεντρικός υπολογιστής παρακολουθούσε τα </a:t>
            </a:r>
            <a:r>
              <a:rPr lang="el">
                <a:solidFill>
                  <a:schemeClr val="dk1"/>
                </a:solidFill>
              </a:rPr>
              <a:t>application logs και κατέγραφε την κάθε βλάβη </a:t>
            </a:r>
            <a:r>
              <a:rPr lang="el"/>
              <a:t>μόλις εντοπιστεί, ενώ το σύστημα έκανε μια πλήρης επαναφορά για να ξεκινήσει ένας νέος κύκλος δοκιμών.</a:t>
            </a:r>
            <a:endParaRPr>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662d2f123_0_2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662d2f123_0_2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Οι βλάβες που παρατηρήθηκαν κατά τη διάρκεια των πειραμάτων κατηγοριοποιήθηκαν σε τρεις τύπους:</a:t>
            </a:r>
            <a:endParaRPr>
              <a:solidFill>
                <a:schemeClr val="dk1"/>
              </a:solidFill>
            </a:endParaRPr>
          </a:p>
          <a:p>
            <a:pPr indent="0" lvl="0" marL="0" rtl="0" algn="l">
              <a:spcBef>
                <a:spcPts val="0"/>
              </a:spcBef>
              <a:spcAft>
                <a:spcPts val="0"/>
              </a:spcAft>
              <a:buNone/>
            </a:pPr>
            <a:r>
              <a:rPr lang="el">
                <a:solidFill>
                  <a:schemeClr val="dk1"/>
                </a:solidFill>
              </a:rPr>
              <a:t>	Input/Output Timeout:  Όταν δεν ελήφθησαν δεδομένα από το λογισμικό πτήσης, γεγονός που υποδηλώνει ότι το σύστημα σταμάτησε να ανταποκρίνεται κατά την εκτέλεση.</a:t>
            </a:r>
            <a:endParaRPr>
              <a:solidFill>
                <a:schemeClr val="dk1"/>
              </a:solidFill>
            </a:endParaRPr>
          </a:p>
          <a:p>
            <a:pPr indent="457200" lvl="0" marL="0" rtl="0" algn="l">
              <a:spcBef>
                <a:spcPts val="0"/>
              </a:spcBef>
              <a:spcAft>
                <a:spcPts val="0"/>
              </a:spcAft>
              <a:buNone/>
            </a:pPr>
            <a:r>
              <a:rPr lang="el">
                <a:solidFill>
                  <a:schemeClr val="dk1"/>
                </a:solidFill>
              </a:rPr>
              <a:t>Result Timeout: Όταν το σύστημα παράγει και μεταδίδει δεδομένα, αλλά αυτά δεν μπορούν να αποκωδικοποιηθούν ως ένα σωστά διαμορφωμένο μήνυμα ή αυτά δεν έφτασαν μέχρι μια ορισμένη προθεσμία.</a:t>
            </a:r>
            <a:endParaRPr>
              <a:solidFill>
                <a:schemeClr val="dk1"/>
              </a:solidFill>
            </a:endParaRPr>
          </a:p>
          <a:p>
            <a:pPr indent="0" lvl="0" marL="0" rtl="0" algn="l">
              <a:spcBef>
                <a:spcPts val="0"/>
              </a:spcBef>
              <a:spcAft>
                <a:spcPts val="0"/>
              </a:spcAft>
              <a:buNone/>
            </a:pPr>
            <a:r>
              <a:rPr lang="el">
                <a:solidFill>
                  <a:schemeClr val="dk1"/>
                </a:solidFill>
              </a:rPr>
              <a:t>      και Silent Data Corruption: Όπου οι εφαρμογές έστειλαν αποτελέσματα εντός του χρονικού πλαισίου, αλλά το αποτέλεσμα ήταν λανθασμένο.</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af9af80a27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af9af80a27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Μέσω του task tracing που επιτρέπει το FreeRTOS μπόρεσε να αναλυθεί το πότε και από ποιες διεργασίες προέρχεται το σφάλμα κάθε φορα. Με αυτόν τον τρόπο, διαπιστώθηκε ότι η εφαρμογή του Scheduler που είναι υπεύθυνη για τον προγραμματισμό και την ενεργοποίηση άλλων εργασιών, ήταν η πιο ευάλωτη, αντιπροσωπεύοντας το 21,3% των συνολικών αποτυχιών και το μεγαλύτερο ποσοστό των Input/Output Timeouts.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l">
                <a:solidFill>
                  <a:schemeClr val="dk1"/>
                </a:solidFill>
              </a:rPr>
              <a:t>Τ</a:t>
            </a:r>
            <a:r>
              <a:rPr lang="el">
                <a:solidFill>
                  <a:schemeClr val="dk1"/>
                </a:solidFill>
              </a:rPr>
              <a:t>α αποτελέσματα αυτής της μελέτης μας προσδιορίζουν ποιες εργασίες είναι πιο επιρρεπείς σε σφάλματα και θα πρέπει να είναι σε προτεραιότητα κατά την εφαρμογή τεχνικών ανοχής σφαλμάτων (</a:t>
            </a:r>
            <a:r>
              <a:rPr lang="el">
                <a:solidFill>
                  <a:schemeClr val="dk1"/>
                </a:solidFill>
              </a:rPr>
              <a:t>η εφαρμογή του Scheduler στην εν προκειμένω περίπτωση</a:t>
            </a:r>
            <a:r>
              <a:rPr lang="el">
                <a:solidFill>
                  <a:schemeClr val="dk1"/>
                </a:solidFill>
              </a:rPr>
              <a:t>). Αλλά και κατέδειξε τη βιωσιμότητα του cFS framework της NASA σε open source πλατφόρμες όπως ο RISC-</a:t>
            </a:r>
            <a:r>
              <a:rPr lang="el">
                <a:solidFill>
                  <a:schemeClr val="dk1"/>
                </a:solidFill>
              </a:rPr>
              <a:t>V και το </a:t>
            </a:r>
            <a:r>
              <a:rPr lang="el">
                <a:solidFill>
                  <a:schemeClr val="dk1"/>
                </a:solidFill>
              </a:rPr>
              <a:t>FreeRTOS,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f9af80a27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f9af80a27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solidFill>
                  <a:schemeClr val="dk1"/>
                </a:solidFill>
              </a:rPr>
              <a:t>Περνώντας τώρα σε τεχνικές simulation/emulation, αυτή η εργασία αναλύει τα αποτελέσματα από τρία εργαλεία εισαγωγής σφαλμάτων, πάνω σε έναν μικροελεγκτή της Texas Instruments, ο οποίος χρησιμοποιείται συχνά στην επιστημονική κοινότητα για τέτοιου είδους αναλύσεις.</a:t>
            </a:r>
            <a:endParaRPr>
              <a:solidFill>
                <a:schemeClr val="dk1"/>
              </a:solidFill>
            </a:endParaRPr>
          </a:p>
          <a:p>
            <a:pPr indent="0" lvl="0" marL="0" rtl="0" algn="l">
              <a:spcBef>
                <a:spcPts val="0"/>
              </a:spcBef>
              <a:spcAft>
                <a:spcPts val="0"/>
              </a:spcAft>
              <a:buNone/>
            </a:pPr>
            <a:r>
              <a:rPr lang="el">
                <a:solidFill>
                  <a:schemeClr val="dk1"/>
                </a:solidFill>
              </a:rPr>
              <a:t>Τα πρώτα δύο βασίζονται στην προσομοίωση σφαλμάτων στο επίπεδο ISA (το οποίο σημαίνει Instruction Set Architecture)· μιμούνται δηλαδή τις εντολές που τρέχουν εντός ενός επεξεργαστή. Το τρίτο βασίζεται στην εξομοίωση σφαλμάτων σε έναν πραγματικό επεξεργαστή μέσω του debugger.</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l">
                <a:solidFill>
                  <a:schemeClr val="dk1"/>
                </a:solidFill>
              </a:rPr>
              <a:t>Τα πλεονεκτήματα του simulation είναι ότι είναι πολύ γρηγορότερο απο το emulation (οι καμπάνιες διαρκούν μερικά λεπτά). Είναι εξαιρετικά ελεγχόμενη σαν διαδικασία και προσφέρεται για τα πρώτα στάδια του σχεδιασμού ενός συστήματος. Τα μειονεκτήματα είναι πάντα στους περιορισμούς του μοντέλου, όπου δεν μπορεί να προσομοιώσει ορισμένα χαρακτηριστικά του υλικού όπως τους timers και τα exceptions.</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l">
                <a:solidFill>
                  <a:schemeClr val="dk1"/>
                </a:solidFill>
              </a:rPr>
              <a:t>Τα πλεονεκτήματα του emulation είναι η υψηλή ακρίβεια καθώς καταγράφει την πραγματική συμπεριφορά της συσκευής.</a:t>
            </a:r>
            <a:endParaRPr>
              <a:solidFill>
                <a:schemeClr val="dk1"/>
              </a:solidFill>
            </a:endParaRPr>
          </a:p>
          <a:p>
            <a:pPr indent="0" lvl="0" marL="0" rtl="0" algn="l">
              <a:spcBef>
                <a:spcPts val="0"/>
              </a:spcBef>
              <a:spcAft>
                <a:spcPts val="0"/>
              </a:spcAft>
              <a:buNone/>
            </a:pPr>
            <a:r>
              <a:rPr lang="el">
                <a:solidFill>
                  <a:schemeClr val="dk1"/>
                </a:solidFill>
              </a:rPr>
              <a:t>Ωστόσο κερδίζοντας σε ακρίβεια χάνουμε σε ταχύτητα και εδώ οι καμπάνιες εξομοίωσης συχνά διαρκούν ώρες.</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af9af80a27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af9af80a27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l"/>
              <a:t>Παρόμοια με το προηγούμενο case study, </a:t>
            </a:r>
            <a:r>
              <a:rPr lang="el"/>
              <a:t>ένα μεμονωμένο σφάλμα </a:t>
            </a:r>
            <a:r>
              <a:rPr lang="el">
                <a:solidFill>
                  <a:schemeClr val="dk1"/>
                </a:solidFill>
              </a:rPr>
              <a:t>ε</a:t>
            </a:r>
            <a:r>
              <a:rPr lang="el">
                <a:solidFill>
                  <a:schemeClr val="dk1"/>
                </a:solidFill>
              </a:rPr>
              <a:t>ισήχθη </a:t>
            </a:r>
            <a:r>
              <a:rPr lang="el"/>
              <a:t>ανά εκτέλεση. Σε ένα τυχαίο bit και σε μία τυχαία </a:t>
            </a:r>
            <a:r>
              <a:rPr lang="el">
                <a:solidFill>
                  <a:schemeClr val="dk1"/>
                </a:solidFill>
              </a:rPr>
              <a:t>εντολή (στην περίπτωση των simulator) ή σε έναν τυχαίο</a:t>
            </a:r>
            <a:r>
              <a:rPr lang="el"/>
              <a:t> κύκλο ρολογιού (στην περίπτωση του emulator). Στόχοι ήταν οι 16 registers του επεξεργαστή και τρεις περιοχές της μνήμης RAM: τα δεδομένα των εφαρμογών, το stack και το program memory.</a:t>
            </a:r>
            <a:endParaRPr/>
          </a:p>
          <a:p>
            <a:pPr indent="0" lvl="0" marL="0" rtl="0" algn="l">
              <a:spcBef>
                <a:spcPts val="0"/>
              </a:spcBef>
              <a:spcAft>
                <a:spcPts val="0"/>
              </a:spcAft>
              <a:buClr>
                <a:schemeClr val="dk1"/>
              </a:buClr>
              <a:buSzPts val="1100"/>
              <a:buFont typeface="Arial"/>
              <a:buNone/>
            </a:pPr>
            <a:r>
              <a:rPr lang="el"/>
              <a:t>Δοκιμάστηκαν</a:t>
            </a:r>
            <a:r>
              <a:rPr lang="el"/>
              <a:t> σε κάθε περίπτωση τρία προγράμματα διαφορετικής πολυπλοκότητας: ο αλγόριθμος Euler, ο αναδρομικός αλγόριθμος </a:t>
            </a:r>
            <a:r>
              <a:rPr lang="el"/>
              <a:t>Quicksort</a:t>
            </a:r>
            <a:r>
              <a:rPr lang="el"/>
              <a:t>, και ο αλγόριθμος Matrix Multiplication (MxM), ο οποίος είναι ιδιαίτερα εντατικός σε δεδομένα. Τέλος τα αποτελέσματα των σφαλμάτων πάλι ταξινομήθηκαν σε τρεις κατηγορίες όμως αυτή την φορά καταγράφηκαν και τα:</a:t>
            </a:r>
            <a:endParaRPr/>
          </a:p>
          <a:p>
            <a:pPr indent="0" lvl="0" marL="0" rtl="0" algn="l">
              <a:spcBef>
                <a:spcPts val="0"/>
              </a:spcBef>
              <a:spcAft>
                <a:spcPts val="0"/>
              </a:spcAft>
              <a:buClr>
                <a:schemeClr val="dk1"/>
              </a:buClr>
              <a:buSzPts val="1100"/>
              <a:buFont typeface="Arial"/>
              <a:buNone/>
            </a:pPr>
            <a:r>
              <a:rPr lang="el"/>
              <a:t>    ◦ unnecessary for Architecturally Correct Execution errors, τα οποία δεν </a:t>
            </a:r>
            <a:r>
              <a:rPr lang="el"/>
              <a:t>επηρεάζουν</a:t>
            </a:r>
            <a:r>
              <a:rPr lang="el"/>
              <a:t> το τελικό αποτέλεσμα, σε </a:t>
            </a:r>
            <a:r>
              <a:rPr lang="el"/>
              <a:t>συνδυασμό</a:t>
            </a:r>
            <a:r>
              <a:rPr lang="el"/>
              <a:t> με τα </a:t>
            </a:r>
            <a:endParaRPr/>
          </a:p>
          <a:p>
            <a:pPr indent="0" lvl="0" marL="0" rtl="0" algn="l">
              <a:spcBef>
                <a:spcPts val="0"/>
              </a:spcBef>
              <a:spcAft>
                <a:spcPts val="0"/>
              </a:spcAft>
              <a:buClr>
                <a:schemeClr val="dk1"/>
              </a:buClr>
              <a:buSzPts val="1100"/>
              <a:buFont typeface="Arial"/>
              <a:buNone/>
            </a:pPr>
            <a:r>
              <a:rPr lang="el"/>
              <a:t>    ◦ Silent Data Corruption σφάλματα που </a:t>
            </a:r>
            <a:r>
              <a:rPr lang="el"/>
              <a:t>υπενθυμίζω</a:t>
            </a:r>
            <a:r>
              <a:rPr lang="el"/>
              <a:t> αφήνουν το πρόγραμμα να ολοκληρωθεί, αλλά με λανθασμένη έξοδο και τα</a:t>
            </a:r>
            <a:endParaRPr/>
          </a:p>
          <a:p>
            <a:pPr indent="0" lvl="0" marL="0" rtl="0" algn="l">
              <a:spcBef>
                <a:spcPts val="0"/>
              </a:spcBef>
              <a:spcAft>
                <a:spcPts val="0"/>
              </a:spcAft>
              <a:buClr>
                <a:schemeClr val="dk1"/>
              </a:buClr>
              <a:buSzPts val="1100"/>
              <a:buFont typeface="Arial"/>
              <a:buNone/>
            </a:pPr>
            <a:r>
              <a:rPr lang="el"/>
              <a:t>    ◦ Hang τα οποία είναι όμοια με τα προηγούμενα timeouts όπου το πρόγραμμα κολλάει σε έναν άπειρο βρόχο εκτέλεσης ή τερματίζει απρόσμενα.</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8662d2f123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8662d2f123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Εδώ είναι η ουσία. Η σύγκριση των </a:t>
            </a:r>
            <a:r>
              <a:rPr lang="el"/>
              <a:t>αποτελεσμάτων</a:t>
            </a:r>
            <a:r>
              <a:rPr lang="el"/>
              <a:t> της Προσομοίωσης έναντι της Εξομοίωσης. </a:t>
            </a:r>
            <a:r>
              <a:rPr lang="el">
                <a:solidFill>
                  <a:schemeClr val="dk1"/>
                </a:solidFill>
              </a:rPr>
              <a:t>Αρχικά, </a:t>
            </a:r>
            <a:r>
              <a:rPr lang="el"/>
              <a:t>τ</a:t>
            </a:r>
            <a:r>
              <a:rPr lang="el"/>
              <a:t>α εργαλεία προσομοίωσης (που μεταξύ τους δεν </a:t>
            </a:r>
            <a:r>
              <a:rPr lang="el"/>
              <a:t>έχουν</a:t>
            </a:r>
            <a:r>
              <a:rPr lang="el"/>
              <a:t> σημαντικές διαφορες) </a:t>
            </a:r>
            <a:r>
              <a:rPr lang="el">
                <a:solidFill>
                  <a:schemeClr val="dk1"/>
                </a:solidFill>
              </a:rPr>
              <a:t>απείχαν σημαντικά απο το emulation εργαλείο, και</a:t>
            </a:r>
            <a:r>
              <a:rPr lang="el"/>
              <a:t> έδωσαν μια εκτίμηση της αξιοπιστίας που ήταν κατά 10% χαμηλότερη σε σχέση με αυτή της εξομοίωσης στην πραγματική συσκευή.</a:t>
            </a:r>
            <a:endParaRPr/>
          </a:p>
          <a:p>
            <a:pPr indent="0" lvl="0" marL="0" rtl="0" algn="l">
              <a:spcBef>
                <a:spcPts val="0"/>
              </a:spcBef>
              <a:spcAft>
                <a:spcPts val="0"/>
              </a:spcAft>
              <a:buNone/>
            </a:pPr>
            <a:r>
              <a:t/>
            </a:r>
            <a:endParaRPr/>
          </a:p>
          <a:p>
            <a:pPr indent="0" lvl="0" marL="0" rtl="0" algn="l">
              <a:spcBef>
                <a:spcPts val="0"/>
              </a:spcBef>
              <a:spcAft>
                <a:spcPts val="0"/>
              </a:spcAft>
              <a:buClr>
                <a:schemeClr val="dk1"/>
              </a:buClr>
              <a:buSzPts val="1100"/>
              <a:buFont typeface="Arial"/>
              <a:buNone/>
            </a:pPr>
            <a:r>
              <a:rPr lang="el"/>
              <a:t>Πιο συγκεκριμένα, παρατηρήθηκαν σημαντικές αποκλίσεις σε κρίσιμους registers όπως το Program Counter (R0) και το Stack Pointer (R1).</a:t>
            </a:r>
            <a:endParaRPr/>
          </a:p>
          <a:p>
            <a:pPr indent="0" lvl="0" marL="0" rtl="0" algn="l">
              <a:spcBef>
                <a:spcPts val="0"/>
              </a:spcBef>
              <a:spcAft>
                <a:spcPts val="0"/>
              </a:spcAft>
              <a:buClr>
                <a:schemeClr val="dk1"/>
              </a:buClr>
              <a:buSzPts val="1100"/>
              <a:buFont typeface="Arial"/>
              <a:buNone/>
            </a:pPr>
            <a:r>
              <a:rPr lang="el"/>
              <a:t>Αυτές οι διαφορές όμως οφείλονταν κυρίως στους περιορισμούς των μοντέλων των simulators. Για παράδειγμα, ένα σφάλμα που οδηγεί την εκτέλεση να </a:t>
            </a:r>
            <a:r>
              <a:rPr lang="el"/>
              <a:t>καθυστερήσει ελάχιστα (μερικούς κύκλους), στο simulation, επειδή είχε αυστηρό χρονικό όριο στο οποίο αν δεν είχε τελειώσει ως τότε η εκτέλεση του προγράμματος κατηγοροποιούσε πως το σύστημα έχει κολλήσει, ενώ το σφάλμα δεν επηρέαζε πραγματικά την εκτέλεση του προγράμματος. Μία μικρή αναμονή του simulator (5-10 κύκλους) πριν να κατηγοροποιήσει το σφάλμα βοήθησε </a:t>
            </a:r>
            <a:r>
              <a:rPr lang="el"/>
              <a:t>να ξεπεραστούν αυτές οι διαφορές, και τελικά, η στατιστική ανάλυση έδειξε ότι δεν </a:t>
            </a:r>
            <a:r>
              <a:rPr lang="el"/>
              <a:t>υπάρχουν</a:t>
            </a:r>
            <a:r>
              <a:rPr lang="el"/>
              <a:t> σημαντικές διαφορές μεταξύ των αποτελεσμάτων των τριών μεθόδων. Οι καμπάνιες simulation είναι συγκρίσιμες και συνεπείς με τις καμπάνιες emulation, εφόσον ληφθούν υπόψη ορισμένοι περιορισμοί (που οφείλονται σε μη-υποστηριζόμενα </a:t>
            </a:r>
            <a:r>
              <a:rPr lang="el"/>
              <a:t>μικρο-αρχιτεκτονικά</a:t>
            </a:r>
            <a:r>
              <a:rPr lang="el"/>
              <a:t> χαρακτηριστικά).</a:t>
            </a:r>
            <a:endParaRPr/>
          </a:p>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g38662d2f123_0_2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 name="Google Shape;211;g38662d2f123_0_2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Κλείνοντας, η</a:t>
            </a:r>
            <a:r>
              <a:rPr lang="el"/>
              <a:t> εργασία επικύρωσε τα ευρήματά της έναντι </a:t>
            </a:r>
            <a:r>
              <a:rPr lang="el">
                <a:solidFill>
                  <a:schemeClr val="dk1"/>
                </a:solidFill>
              </a:rPr>
              <a:t>πραγματικών πειραμάτων ακτινοβολίας νετρονίων που διεξήχθησαν στο Los Alamos Neutron Science Center. </a:t>
            </a:r>
            <a:r>
              <a:rPr lang="el"/>
              <a:t>Τα πειράματα ακτινοβολίας πραγματοποιήθηκαν σε ένα hardened benchmark (το BubbleSort).</a:t>
            </a:r>
            <a:endParaRPr/>
          </a:p>
          <a:p>
            <a:pPr indent="0" lvl="0" marL="0" rtl="0" algn="l">
              <a:spcBef>
                <a:spcPts val="0"/>
              </a:spcBef>
              <a:spcAft>
                <a:spcPts val="0"/>
              </a:spcAft>
              <a:buNone/>
            </a:pPr>
            <a:r>
              <a:rPr lang="el"/>
              <a:t>Η μελέτη διαπίστωσε ότι η συνέπεια της σειράς κατάταξης διατηρήθηκε, δηλαδή, εάν μια τεχνική μετριασμού μείωσε τη συχνότητα των σφαλμάτων στην προσομοίωση/εξομοίωση, η ίδια τάση παρατηρήθηκε και στα πραγματικά αποτελέσματα ακτινοβολίας </a:t>
            </a:r>
            <a:r>
              <a:rPr lang="el"/>
              <a:t>διατηρούμενων</a:t>
            </a:r>
            <a:r>
              <a:rPr lang="el"/>
              <a:t> των αναλογιών.</a:t>
            </a:r>
            <a:endParaRPr/>
          </a:p>
          <a:p>
            <a:pPr indent="0" lvl="0" marL="0" rtl="0" algn="l">
              <a:spcBef>
                <a:spcPts val="0"/>
              </a:spcBef>
              <a:spcAft>
                <a:spcPts val="0"/>
              </a:spcAft>
              <a:buNone/>
            </a:pPr>
            <a:r>
              <a:rPr lang="el"/>
              <a:t>Συμπερασματικά</a:t>
            </a:r>
            <a:r>
              <a:rPr lang="el"/>
              <a:t>, η χρήση προσομοιωτών/εξομοιωτών για την αναζήτηση της καταλληλότερης τεχνικής μετριασμού σφαλμάτων επιβεβαιώθηκε.</a:t>
            </a:r>
            <a:endParaRPr/>
          </a:p>
          <a:p>
            <a:pPr indent="0" lvl="0" marL="0" rtl="0" algn="l">
              <a:spcBef>
                <a:spcPts val="0"/>
              </a:spcBef>
              <a:spcAft>
                <a:spcPts val="0"/>
              </a:spcAft>
              <a:buClr>
                <a:schemeClr val="dk1"/>
              </a:buClr>
              <a:buSzPts val="1100"/>
              <a:buFont typeface="Arial"/>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662d2f123_0_2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662d2f123_0_2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a:t>Ωστόσο πότε πρέπει να προτιμούμε προσομοίωση και πότε </a:t>
            </a:r>
            <a:r>
              <a:rPr lang="el"/>
              <a:t>εξομοίωση</a:t>
            </a:r>
            <a:r>
              <a:rPr lang="el"/>
              <a:t>;</a:t>
            </a:r>
            <a:endParaRPr/>
          </a:p>
          <a:p>
            <a:pPr indent="0" lvl="0" marL="0" rtl="0" algn="l">
              <a:spcBef>
                <a:spcPts val="0"/>
              </a:spcBef>
              <a:spcAft>
                <a:spcPts val="0"/>
              </a:spcAft>
              <a:buClr>
                <a:schemeClr val="dk1"/>
              </a:buClr>
              <a:buSzPts val="1100"/>
              <a:buFont typeface="Arial"/>
              <a:buNone/>
            </a:pPr>
            <a:r>
              <a:rPr lang="el"/>
              <a:t>Η προσομοίωση</a:t>
            </a:r>
            <a:r>
              <a:rPr lang="el"/>
              <a:t> συνιστάται για την ταχεία εξερεύνηση του χώρου σχεδιασμού των τεχνικών μετριασμού των σφαλμάτων λόγω της ταχύτητάς της.</a:t>
            </a:r>
            <a:endParaRPr/>
          </a:p>
          <a:p>
            <a:pPr indent="0" lvl="0" marL="0" rtl="0" algn="l">
              <a:spcBef>
                <a:spcPts val="0"/>
              </a:spcBef>
              <a:spcAft>
                <a:spcPts val="0"/>
              </a:spcAft>
              <a:buNone/>
            </a:pPr>
            <a:r>
              <a:rPr lang="el"/>
              <a:t>Παράλληλα, η εξομοίωση θα πρέπει να χρησιμοποιείται για λογισμικό που απαιτεί εκτιμήσεις υψηλής ακρίβειας ή που βασίζεται σε Interrupt Service Routines (ISR-based), τα οποία εξαρτώνται έντονα από timers, περιφερειακά και εξαιρέσεις.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3a5c97b17d6_2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 name="Google Shape;225;g3a5c97b17d6_2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g3a5c97b17d6_2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1" name="Google Shape;231;g3a5c97b17d6_2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lt2"/>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4878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 name="Google Shape;11;p2"/>
          <p:cNvGrpSpPr/>
          <p:nvPr/>
        </p:nvGrpSpPr>
        <p:grpSpPr>
          <a:xfrm>
            <a:off x="830392" y="1191256"/>
            <a:ext cx="745763" cy="45826"/>
            <a:chOff x="4580561" y="2589004"/>
            <a:chExt cx="1064464" cy="25200"/>
          </a:xfrm>
        </p:grpSpPr>
        <p:sp>
          <p:nvSpPr>
            <p:cNvPr id="12" name="Google Shape;12;p2"/>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 name="Google Shape;14;p2"/>
          <p:cNvSpPr txBox="1"/>
          <p:nvPr>
            <p:ph type="ctrTitle"/>
          </p:nvPr>
        </p:nvSpPr>
        <p:spPr>
          <a:xfrm>
            <a:off x="729450" y="1322450"/>
            <a:ext cx="7688100" cy="16647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sz="4200"/>
            </a:lvl1pPr>
            <a:lvl2pPr lvl="1">
              <a:spcBef>
                <a:spcPts val="0"/>
              </a:spcBef>
              <a:spcAft>
                <a:spcPts val="0"/>
              </a:spcAft>
              <a:buSzPts val="4200"/>
              <a:buNone/>
              <a:defRPr sz="4200"/>
            </a:lvl2pPr>
            <a:lvl3pPr lvl="2">
              <a:spcBef>
                <a:spcPts val="0"/>
              </a:spcBef>
              <a:spcAft>
                <a:spcPts val="0"/>
              </a:spcAft>
              <a:buSzPts val="4200"/>
              <a:buNone/>
              <a:defRPr sz="4200"/>
            </a:lvl3pPr>
            <a:lvl4pPr lvl="3">
              <a:spcBef>
                <a:spcPts val="0"/>
              </a:spcBef>
              <a:spcAft>
                <a:spcPts val="0"/>
              </a:spcAft>
              <a:buSzPts val="4200"/>
              <a:buNone/>
              <a:defRPr sz="4200"/>
            </a:lvl4pPr>
            <a:lvl5pPr lvl="4">
              <a:spcBef>
                <a:spcPts val="0"/>
              </a:spcBef>
              <a:spcAft>
                <a:spcPts val="0"/>
              </a:spcAft>
              <a:buSzPts val="4200"/>
              <a:buNone/>
              <a:defRPr sz="4200"/>
            </a:lvl5pPr>
            <a:lvl6pPr lvl="5">
              <a:spcBef>
                <a:spcPts val="0"/>
              </a:spcBef>
              <a:spcAft>
                <a:spcPts val="0"/>
              </a:spcAft>
              <a:buSzPts val="4200"/>
              <a:buNone/>
              <a:defRPr sz="4200"/>
            </a:lvl6pPr>
            <a:lvl7pPr lvl="6">
              <a:spcBef>
                <a:spcPts val="0"/>
              </a:spcBef>
              <a:spcAft>
                <a:spcPts val="0"/>
              </a:spcAft>
              <a:buSzPts val="4200"/>
              <a:buNone/>
              <a:defRPr sz="4200"/>
            </a:lvl7pPr>
            <a:lvl8pPr lvl="7">
              <a:spcBef>
                <a:spcPts val="0"/>
              </a:spcBef>
              <a:spcAft>
                <a:spcPts val="0"/>
              </a:spcAft>
              <a:buSzPts val="4200"/>
              <a:buNone/>
              <a:defRPr sz="4200"/>
            </a:lvl8pPr>
            <a:lvl9pPr lvl="8">
              <a:spcBef>
                <a:spcPts val="0"/>
              </a:spcBef>
              <a:spcAft>
                <a:spcPts val="0"/>
              </a:spcAft>
              <a:buSzPts val="4200"/>
              <a:buNone/>
              <a:defRPr sz="4200"/>
            </a:lvl9pPr>
          </a:lstStyle>
          <a:p/>
        </p:txBody>
      </p:sp>
      <p:sp>
        <p:nvSpPr>
          <p:cNvPr id="15" name="Google Shape;15;p2"/>
          <p:cNvSpPr txBox="1"/>
          <p:nvPr>
            <p:ph idx="1" type="subTitle"/>
          </p:nvPr>
        </p:nvSpPr>
        <p:spPr>
          <a:xfrm>
            <a:off x="729627" y="3172900"/>
            <a:ext cx="7688100" cy="5412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6" name="Google Shape;16;p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7" name="Shape 17"/>
        <p:cNvGrpSpPr/>
        <p:nvPr/>
      </p:nvGrpSpPr>
      <p:grpSpPr>
        <a:xfrm>
          <a:off x="0" y="0"/>
          <a:ext cx="0" cy="0"/>
          <a:chOff x="0" y="0"/>
          <a:chExt cx="0" cy="0"/>
        </a:xfrm>
      </p:grpSpPr>
      <p:grpSp>
        <p:nvGrpSpPr>
          <p:cNvPr id="18" name="Google Shape;18;p3"/>
          <p:cNvGrpSpPr/>
          <p:nvPr/>
        </p:nvGrpSpPr>
        <p:grpSpPr>
          <a:xfrm>
            <a:off x="830392" y="1191256"/>
            <a:ext cx="745763" cy="45826"/>
            <a:chOff x="4580561" y="2589004"/>
            <a:chExt cx="1064464" cy="25200"/>
          </a:xfrm>
        </p:grpSpPr>
        <p:sp>
          <p:nvSpPr>
            <p:cNvPr id="19" name="Google Shape;19;p3"/>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3"/>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1" name="Google Shape;21;p3"/>
          <p:cNvSpPr txBox="1"/>
          <p:nvPr>
            <p:ph type="title"/>
          </p:nvPr>
        </p:nvSpPr>
        <p:spPr>
          <a:xfrm>
            <a:off x="729450" y="1322450"/>
            <a:ext cx="7688400" cy="15186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22" name="Google Shape;22;p3"/>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4"/>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5" name="Google Shape;25;p4"/>
          <p:cNvGrpSpPr/>
          <p:nvPr/>
        </p:nvGrpSpPr>
        <p:grpSpPr>
          <a:xfrm>
            <a:off x="830392" y="1191256"/>
            <a:ext cx="745763" cy="45826"/>
            <a:chOff x="4580561" y="2589004"/>
            <a:chExt cx="1064464" cy="25200"/>
          </a:xfrm>
        </p:grpSpPr>
        <p:sp>
          <p:nvSpPr>
            <p:cNvPr id="26" name="Google Shape;26;p4"/>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4"/>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8" name="Google Shape;28;p4"/>
          <p:cNvSpPr txBox="1"/>
          <p:nvPr>
            <p:ph type="title"/>
          </p:nvPr>
        </p:nvSpPr>
        <p:spPr>
          <a:xfrm>
            <a:off x="729450" y="1318650"/>
            <a:ext cx="76887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29" name="Google Shape;29;p4"/>
          <p:cNvSpPr txBox="1"/>
          <p:nvPr>
            <p:ph idx="1" type="body"/>
          </p:nvPr>
        </p:nvSpPr>
        <p:spPr>
          <a:xfrm>
            <a:off x="729450" y="2078875"/>
            <a:ext cx="76887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0" name="Google Shape;30;p4"/>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3" name="Google Shape;33;p5"/>
          <p:cNvGrpSpPr/>
          <p:nvPr/>
        </p:nvGrpSpPr>
        <p:grpSpPr>
          <a:xfrm>
            <a:off x="830392" y="1191256"/>
            <a:ext cx="745763" cy="45826"/>
            <a:chOff x="4580561" y="2589004"/>
            <a:chExt cx="1064464" cy="25200"/>
          </a:xfrm>
        </p:grpSpPr>
        <p:sp>
          <p:nvSpPr>
            <p:cNvPr id="34" name="Google Shape;34;p5"/>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5"/>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6" name="Google Shape;36;p5"/>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37" name="Google Shape;37;p5"/>
          <p:cNvSpPr txBox="1"/>
          <p:nvPr>
            <p:ph idx="1" type="body"/>
          </p:nvPr>
        </p:nvSpPr>
        <p:spPr>
          <a:xfrm>
            <a:off x="729325"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8" name="Google Shape;38;p5"/>
          <p:cNvSpPr txBox="1"/>
          <p:nvPr>
            <p:ph idx="2" type="body"/>
          </p:nvPr>
        </p:nvSpPr>
        <p:spPr>
          <a:xfrm>
            <a:off x="4643604" y="2078875"/>
            <a:ext cx="3774300" cy="22611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39" name="Google Shape;39;p5"/>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0" name="Shape 40"/>
        <p:cNvGrpSpPr/>
        <p:nvPr/>
      </p:nvGrpSpPr>
      <p:grpSpPr>
        <a:xfrm>
          <a:off x="0" y="0"/>
          <a:ext cx="0" cy="0"/>
          <a:chOff x="0" y="0"/>
          <a:chExt cx="0" cy="0"/>
        </a:xfrm>
      </p:grpSpPr>
      <p:sp>
        <p:nvSpPr>
          <p:cNvPr id="41" name="Google Shape;41;p6"/>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2" name="Google Shape;42;p6"/>
          <p:cNvGrpSpPr/>
          <p:nvPr/>
        </p:nvGrpSpPr>
        <p:grpSpPr>
          <a:xfrm>
            <a:off x="830392" y="1191256"/>
            <a:ext cx="745763" cy="45826"/>
            <a:chOff x="4580561" y="2589004"/>
            <a:chExt cx="1064464" cy="25200"/>
          </a:xfrm>
        </p:grpSpPr>
        <p:sp>
          <p:nvSpPr>
            <p:cNvPr id="43" name="Google Shape;43;p6"/>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6"/>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6"/>
          <p:cNvSpPr txBox="1"/>
          <p:nvPr>
            <p:ph type="title"/>
          </p:nvPr>
        </p:nvSpPr>
        <p:spPr>
          <a:xfrm>
            <a:off x="729450" y="1318650"/>
            <a:ext cx="7688400" cy="535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46" name="Google Shape;46;p6"/>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7" name="Shape 47"/>
        <p:cNvGrpSpPr/>
        <p:nvPr/>
      </p:nvGrpSpPr>
      <p:grpSpPr>
        <a:xfrm>
          <a:off x="0" y="0"/>
          <a:ext cx="0" cy="0"/>
          <a:chOff x="0" y="0"/>
          <a:chExt cx="0" cy="0"/>
        </a:xfrm>
      </p:grpSpPr>
      <p:sp>
        <p:nvSpPr>
          <p:cNvPr id="48" name="Google Shape;48;p7"/>
          <p:cNvSpPr/>
          <p:nvPr/>
        </p:nvSpPr>
        <p:spPr>
          <a:xfrm>
            <a:off x="0" y="0"/>
            <a:ext cx="9144000" cy="48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9" name="Google Shape;49;p7"/>
          <p:cNvGrpSpPr/>
          <p:nvPr/>
        </p:nvGrpSpPr>
        <p:grpSpPr>
          <a:xfrm>
            <a:off x="830392" y="1191256"/>
            <a:ext cx="745763" cy="45826"/>
            <a:chOff x="4580561" y="2589004"/>
            <a:chExt cx="1064464" cy="25200"/>
          </a:xfrm>
        </p:grpSpPr>
        <p:sp>
          <p:nvSpPr>
            <p:cNvPr id="50" name="Google Shape;50;p7"/>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7"/>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2" name="Google Shape;52;p7"/>
          <p:cNvSpPr txBox="1"/>
          <p:nvPr>
            <p:ph type="title"/>
          </p:nvPr>
        </p:nvSpPr>
        <p:spPr>
          <a:xfrm>
            <a:off x="730000" y="1318650"/>
            <a:ext cx="3300900" cy="13815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53" name="Google Shape;53;p7"/>
          <p:cNvSpPr txBox="1"/>
          <p:nvPr>
            <p:ph idx="1" type="body"/>
          </p:nvPr>
        </p:nvSpPr>
        <p:spPr>
          <a:xfrm>
            <a:off x="721225" y="2781725"/>
            <a:ext cx="3300900" cy="159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4" name="Google Shape;54;p7"/>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5" name="Shape 55"/>
        <p:cNvGrpSpPr/>
        <p:nvPr/>
      </p:nvGrpSpPr>
      <p:grpSpPr>
        <a:xfrm>
          <a:off x="0" y="0"/>
          <a:ext cx="0" cy="0"/>
          <a:chOff x="0" y="0"/>
          <a:chExt cx="0" cy="0"/>
        </a:xfrm>
      </p:grpSpPr>
      <p:grpSp>
        <p:nvGrpSpPr>
          <p:cNvPr id="56" name="Google Shape;56;p8"/>
          <p:cNvGrpSpPr/>
          <p:nvPr/>
        </p:nvGrpSpPr>
        <p:grpSpPr>
          <a:xfrm>
            <a:off x="830392" y="4169130"/>
            <a:ext cx="745763" cy="45826"/>
            <a:chOff x="4580561" y="2589004"/>
            <a:chExt cx="1064464" cy="25200"/>
          </a:xfrm>
        </p:grpSpPr>
        <p:sp>
          <p:nvSpPr>
            <p:cNvPr id="57" name="Google Shape;57;p8"/>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8"/>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 name="Google Shape;59;p8"/>
          <p:cNvSpPr txBox="1"/>
          <p:nvPr>
            <p:ph type="title"/>
          </p:nvPr>
        </p:nvSpPr>
        <p:spPr>
          <a:xfrm>
            <a:off x="729450" y="864300"/>
            <a:ext cx="7021200" cy="29850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3600"/>
              <a:buNone/>
              <a:defRPr sz="3600">
                <a:solidFill>
                  <a:schemeClr val="lt1"/>
                </a:solidFill>
              </a:defRPr>
            </a:lvl1pPr>
            <a:lvl2pPr lvl="1">
              <a:spcBef>
                <a:spcPts val="0"/>
              </a:spcBef>
              <a:spcAft>
                <a:spcPts val="0"/>
              </a:spcAft>
              <a:buClr>
                <a:schemeClr val="lt1"/>
              </a:buClr>
              <a:buSzPts val="3600"/>
              <a:buNone/>
              <a:defRPr sz="3600">
                <a:solidFill>
                  <a:schemeClr val="lt1"/>
                </a:solidFill>
              </a:defRPr>
            </a:lvl2pPr>
            <a:lvl3pPr lvl="2">
              <a:spcBef>
                <a:spcPts val="0"/>
              </a:spcBef>
              <a:spcAft>
                <a:spcPts val="0"/>
              </a:spcAft>
              <a:buClr>
                <a:schemeClr val="lt1"/>
              </a:buClr>
              <a:buSzPts val="3600"/>
              <a:buNone/>
              <a:defRPr sz="3600">
                <a:solidFill>
                  <a:schemeClr val="lt1"/>
                </a:solidFill>
              </a:defRPr>
            </a:lvl3pPr>
            <a:lvl4pPr lvl="3">
              <a:spcBef>
                <a:spcPts val="0"/>
              </a:spcBef>
              <a:spcAft>
                <a:spcPts val="0"/>
              </a:spcAft>
              <a:buClr>
                <a:schemeClr val="lt1"/>
              </a:buClr>
              <a:buSzPts val="3600"/>
              <a:buNone/>
              <a:defRPr sz="3600">
                <a:solidFill>
                  <a:schemeClr val="lt1"/>
                </a:solidFill>
              </a:defRPr>
            </a:lvl4pPr>
            <a:lvl5pPr lvl="4">
              <a:spcBef>
                <a:spcPts val="0"/>
              </a:spcBef>
              <a:spcAft>
                <a:spcPts val="0"/>
              </a:spcAft>
              <a:buClr>
                <a:schemeClr val="lt1"/>
              </a:buClr>
              <a:buSzPts val="3600"/>
              <a:buNone/>
              <a:defRPr sz="3600">
                <a:solidFill>
                  <a:schemeClr val="lt1"/>
                </a:solidFill>
              </a:defRPr>
            </a:lvl5pPr>
            <a:lvl6pPr lvl="5">
              <a:spcBef>
                <a:spcPts val="0"/>
              </a:spcBef>
              <a:spcAft>
                <a:spcPts val="0"/>
              </a:spcAft>
              <a:buClr>
                <a:schemeClr val="lt1"/>
              </a:buClr>
              <a:buSzPts val="3600"/>
              <a:buNone/>
              <a:defRPr sz="3600">
                <a:solidFill>
                  <a:schemeClr val="lt1"/>
                </a:solidFill>
              </a:defRPr>
            </a:lvl6pPr>
            <a:lvl7pPr lvl="6">
              <a:spcBef>
                <a:spcPts val="0"/>
              </a:spcBef>
              <a:spcAft>
                <a:spcPts val="0"/>
              </a:spcAft>
              <a:buClr>
                <a:schemeClr val="lt1"/>
              </a:buClr>
              <a:buSzPts val="3600"/>
              <a:buNone/>
              <a:defRPr sz="3600">
                <a:solidFill>
                  <a:schemeClr val="lt1"/>
                </a:solidFill>
              </a:defRPr>
            </a:lvl7pPr>
            <a:lvl8pPr lvl="7">
              <a:spcBef>
                <a:spcPts val="0"/>
              </a:spcBef>
              <a:spcAft>
                <a:spcPts val="0"/>
              </a:spcAft>
              <a:buClr>
                <a:schemeClr val="lt1"/>
              </a:buClr>
              <a:buSzPts val="3600"/>
              <a:buNone/>
              <a:defRPr sz="3600">
                <a:solidFill>
                  <a:schemeClr val="lt1"/>
                </a:solidFill>
              </a:defRPr>
            </a:lvl8pPr>
            <a:lvl9pPr lvl="8">
              <a:spcBef>
                <a:spcPts val="0"/>
              </a:spcBef>
              <a:spcAft>
                <a:spcPts val="0"/>
              </a:spcAft>
              <a:buClr>
                <a:schemeClr val="lt1"/>
              </a:buClr>
              <a:buSzPts val="3600"/>
              <a:buNone/>
              <a:defRPr sz="3600">
                <a:solidFill>
                  <a:schemeClr val="lt1"/>
                </a:solidFill>
              </a:defRPr>
            </a:lvl9pPr>
          </a:lstStyle>
          <a:p/>
        </p:txBody>
      </p:sp>
      <p:sp>
        <p:nvSpPr>
          <p:cNvPr id="60" name="Google Shape;60;p8"/>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9"/>
          <p:cNvSpPr/>
          <p:nvPr/>
        </p:nvSpPr>
        <p:spPr>
          <a:xfrm>
            <a:off x="0" y="0"/>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9"/>
          <p:cNvGrpSpPr/>
          <p:nvPr/>
        </p:nvGrpSpPr>
        <p:grpSpPr>
          <a:xfrm>
            <a:off x="830392" y="1191256"/>
            <a:ext cx="745763" cy="45826"/>
            <a:chOff x="4580561" y="2589004"/>
            <a:chExt cx="1064464" cy="25200"/>
          </a:xfrm>
        </p:grpSpPr>
        <p:sp>
          <p:nvSpPr>
            <p:cNvPr id="64" name="Google Shape;64;p9"/>
            <p:cNvSpPr/>
            <p:nvPr/>
          </p:nvSpPr>
          <p:spPr>
            <a:xfrm rot="-5400000">
              <a:off x="5366325" y="2335504"/>
              <a:ext cx="25200" cy="5322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9"/>
            <p:cNvSpPr/>
            <p:nvPr/>
          </p:nvSpPr>
          <p:spPr>
            <a:xfrm rot="-5400000">
              <a:off x="4836311" y="2333254"/>
              <a:ext cx="25200" cy="536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6" name="Google Shape;66;p9"/>
          <p:cNvSpPr txBox="1"/>
          <p:nvPr>
            <p:ph type="title"/>
          </p:nvPr>
        </p:nvSpPr>
        <p:spPr>
          <a:xfrm>
            <a:off x="730000" y="1318650"/>
            <a:ext cx="3300900" cy="1687200"/>
          </a:xfrm>
          <a:prstGeom prst="rect">
            <a:avLst/>
          </a:prstGeom>
        </p:spPr>
        <p:txBody>
          <a:bodyPr anchorCtr="0" anchor="t" bIns="91425" lIns="91425" spcFirstLastPara="1" rIns="91425" wrap="square" tIns="91425">
            <a:normAutofit/>
          </a:bodyPr>
          <a:lstStyle>
            <a:lvl1pPr lvl="0">
              <a:spcBef>
                <a:spcPts val="0"/>
              </a:spcBef>
              <a:spcAft>
                <a:spcPts val="0"/>
              </a:spcAft>
              <a:buSzPts val="2600"/>
              <a:buNone/>
              <a:defRPr sz="2600"/>
            </a:lvl1pPr>
            <a:lvl2pPr lvl="1">
              <a:spcBef>
                <a:spcPts val="0"/>
              </a:spcBef>
              <a:spcAft>
                <a:spcPts val="0"/>
              </a:spcAft>
              <a:buSzPts val="2600"/>
              <a:buNone/>
              <a:defRPr sz="2600"/>
            </a:lvl2pPr>
            <a:lvl3pPr lvl="2">
              <a:spcBef>
                <a:spcPts val="0"/>
              </a:spcBef>
              <a:spcAft>
                <a:spcPts val="0"/>
              </a:spcAft>
              <a:buSzPts val="2600"/>
              <a:buNone/>
              <a:defRPr sz="2600"/>
            </a:lvl3pPr>
            <a:lvl4pPr lvl="3">
              <a:spcBef>
                <a:spcPts val="0"/>
              </a:spcBef>
              <a:spcAft>
                <a:spcPts val="0"/>
              </a:spcAft>
              <a:buSzPts val="2600"/>
              <a:buNone/>
              <a:defRPr sz="2600"/>
            </a:lvl4pPr>
            <a:lvl5pPr lvl="4">
              <a:spcBef>
                <a:spcPts val="0"/>
              </a:spcBef>
              <a:spcAft>
                <a:spcPts val="0"/>
              </a:spcAft>
              <a:buSzPts val="2600"/>
              <a:buNone/>
              <a:defRPr sz="2600"/>
            </a:lvl5pPr>
            <a:lvl6pPr lvl="5">
              <a:spcBef>
                <a:spcPts val="0"/>
              </a:spcBef>
              <a:spcAft>
                <a:spcPts val="0"/>
              </a:spcAft>
              <a:buSzPts val="2600"/>
              <a:buNone/>
              <a:defRPr sz="2600"/>
            </a:lvl6pPr>
            <a:lvl7pPr lvl="6">
              <a:spcBef>
                <a:spcPts val="0"/>
              </a:spcBef>
              <a:spcAft>
                <a:spcPts val="0"/>
              </a:spcAft>
              <a:buSzPts val="2600"/>
              <a:buNone/>
              <a:defRPr sz="2600"/>
            </a:lvl7pPr>
            <a:lvl8pPr lvl="7">
              <a:spcBef>
                <a:spcPts val="0"/>
              </a:spcBef>
              <a:spcAft>
                <a:spcPts val="0"/>
              </a:spcAft>
              <a:buSzPts val="2600"/>
              <a:buNone/>
              <a:defRPr sz="2600"/>
            </a:lvl8pPr>
            <a:lvl9pPr lvl="8">
              <a:spcBef>
                <a:spcPts val="0"/>
              </a:spcBef>
              <a:spcAft>
                <a:spcPts val="0"/>
              </a:spcAft>
              <a:buSzPts val="2600"/>
              <a:buNone/>
              <a:defRPr sz="2600"/>
            </a:lvl9pPr>
          </a:lstStyle>
          <a:p/>
        </p:txBody>
      </p:sp>
      <p:sp>
        <p:nvSpPr>
          <p:cNvPr id="67" name="Google Shape;67;p9"/>
          <p:cNvSpPr txBox="1"/>
          <p:nvPr>
            <p:ph idx="1" type="subTitle"/>
          </p:nvPr>
        </p:nvSpPr>
        <p:spPr>
          <a:xfrm>
            <a:off x="724950" y="3161525"/>
            <a:ext cx="3300900" cy="7590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68" name="Google Shape;68;p9"/>
          <p:cNvSpPr txBox="1"/>
          <p:nvPr>
            <p:ph idx="2" type="body"/>
          </p:nvPr>
        </p:nvSpPr>
        <p:spPr>
          <a:xfrm>
            <a:off x="5174225" y="1352625"/>
            <a:ext cx="3374400" cy="302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9" name="Google Shape;69;p9"/>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0" name="Shape 70"/>
        <p:cNvGrpSpPr/>
        <p:nvPr/>
      </p:nvGrpSpPr>
      <p:grpSpPr>
        <a:xfrm>
          <a:off x="0" y="0"/>
          <a:ext cx="0" cy="0"/>
          <a:chOff x="0" y="0"/>
          <a:chExt cx="0" cy="0"/>
        </a:xfrm>
      </p:grpSpPr>
      <p:sp>
        <p:nvSpPr>
          <p:cNvPr id="71" name="Google Shape;71;p10"/>
          <p:cNvSpPr txBox="1"/>
          <p:nvPr>
            <p:ph idx="1" type="body"/>
          </p:nvPr>
        </p:nvSpPr>
        <p:spPr>
          <a:xfrm>
            <a:off x="724950" y="4372551"/>
            <a:ext cx="7697400" cy="4605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72" name="Google Shape;72;p10"/>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3" name="Shape 73"/>
        <p:cNvGrpSpPr/>
        <p:nvPr/>
      </p:nvGrpSpPr>
      <p:grpSpPr>
        <a:xfrm>
          <a:off x="0" y="0"/>
          <a:ext cx="0" cy="0"/>
          <a:chOff x="0" y="0"/>
          <a:chExt cx="0" cy="0"/>
        </a:xfrm>
      </p:grpSpPr>
      <p:grpSp>
        <p:nvGrpSpPr>
          <p:cNvPr id="74" name="Google Shape;74;p11"/>
          <p:cNvGrpSpPr/>
          <p:nvPr/>
        </p:nvGrpSpPr>
        <p:grpSpPr>
          <a:xfrm>
            <a:off x="830392" y="4169130"/>
            <a:ext cx="745763" cy="45826"/>
            <a:chOff x="4580561" y="2589004"/>
            <a:chExt cx="1064464" cy="25200"/>
          </a:xfrm>
        </p:grpSpPr>
        <p:sp>
          <p:nvSpPr>
            <p:cNvPr id="75" name="Google Shape;75;p11"/>
            <p:cNvSpPr/>
            <p:nvPr/>
          </p:nvSpPr>
          <p:spPr>
            <a:xfrm rot="-5400000">
              <a:off x="5366325" y="2335504"/>
              <a:ext cx="25200" cy="5322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1"/>
            <p:cNvSpPr/>
            <p:nvPr/>
          </p:nvSpPr>
          <p:spPr>
            <a:xfrm rot="-5400000">
              <a:off x="4836311" y="2333254"/>
              <a:ext cx="25200" cy="5367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7" name="Google Shape;77;p11"/>
          <p:cNvSpPr txBox="1"/>
          <p:nvPr>
            <p:ph hasCustomPrompt="1" type="title"/>
          </p:nvPr>
        </p:nvSpPr>
        <p:spPr>
          <a:xfrm>
            <a:off x="729450" y="733950"/>
            <a:ext cx="7688400" cy="1244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8000"/>
              <a:buNone/>
              <a:defRPr sz="8000">
                <a:solidFill>
                  <a:schemeClr val="lt1"/>
                </a:solidFill>
              </a:defRPr>
            </a:lvl1pPr>
            <a:lvl2pPr lvl="1">
              <a:spcBef>
                <a:spcPts val="0"/>
              </a:spcBef>
              <a:spcAft>
                <a:spcPts val="0"/>
              </a:spcAft>
              <a:buClr>
                <a:schemeClr val="lt1"/>
              </a:buClr>
              <a:buSzPts val="8000"/>
              <a:buNone/>
              <a:defRPr sz="8000">
                <a:solidFill>
                  <a:schemeClr val="lt1"/>
                </a:solidFill>
              </a:defRPr>
            </a:lvl2pPr>
            <a:lvl3pPr lvl="2">
              <a:spcBef>
                <a:spcPts val="0"/>
              </a:spcBef>
              <a:spcAft>
                <a:spcPts val="0"/>
              </a:spcAft>
              <a:buClr>
                <a:schemeClr val="lt1"/>
              </a:buClr>
              <a:buSzPts val="8000"/>
              <a:buNone/>
              <a:defRPr sz="8000">
                <a:solidFill>
                  <a:schemeClr val="lt1"/>
                </a:solidFill>
              </a:defRPr>
            </a:lvl3pPr>
            <a:lvl4pPr lvl="3">
              <a:spcBef>
                <a:spcPts val="0"/>
              </a:spcBef>
              <a:spcAft>
                <a:spcPts val="0"/>
              </a:spcAft>
              <a:buClr>
                <a:schemeClr val="lt1"/>
              </a:buClr>
              <a:buSzPts val="8000"/>
              <a:buNone/>
              <a:defRPr sz="8000">
                <a:solidFill>
                  <a:schemeClr val="lt1"/>
                </a:solidFill>
              </a:defRPr>
            </a:lvl4pPr>
            <a:lvl5pPr lvl="4">
              <a:spcBef>
                <a:spcPts val="0"/>
              </a:spcBef>
              <a:spcAft>
                <a:spcPts val="0"/>
              </a:spcAft>
              <a:buClr>
                <a:schemeClr val="lt1"/>
              </a:buClr>
              <a:buSzPts val="8000"/>
              <a:buNone/>
              <a:defRPr sz="8000">
                <a:solidFill>
                  <a:schemeClr val="lt1"/>
                </a:solidFill>
              </a:defRPr>
            </a:lvl5pPr>
            <a:lvl6pPr lvl="5">
              <a:spcBef>
                <a:spcPts val="0"/>
              </a:spcBef>
              <a:spcAft>
                <a:spcPts val="0"/>
              </a:spcAft>
              <a:buClr>
                <a:schemeClr val="lt1"/>
              </a:buClr>
              <a:buSzPts val="8000"/>
              <a:buNone/>
              <a:defRPr sz="8000">
                <a:solidFill>
                  <a:schemeClr val="lt1"/>
                </a:solidFill>
              </a:defRPr>
            </a:lvl6pPr>
            <a:lvl7pPr lvl="6">
              <a:spcBef>
                <a:spcPts val="0"/>
              </a:spcBef>
              <a:spcAft>
                <a:spcPts val="0"/>
              </a:spcAft>
              <a:buClr>
                <a:schemeClr val="lt1"/>
              </a:buClr>
              <a:buSzPts val="8000"/>
              <a:buNone/>
              <a:defRPr sz="8000">
                <a:solidFill>
                  <a:schemeClr val="lt1"/>
                </a:solidFill>
              </a:defRPr>
            </a:lvl7pPr>
            <a:lvl8pPr lvl="7">
              <a:spcBef>
                <a:spcPts val="0"/>
              </a:spcBef>
              <a:spcAft>
                <a:spcPts val="0"/>
              </a:spcAft>
              <a:buClr>
                <a:schemeClr val="lt1"/>
              </a:buClr>
              <a:buSzPts val="8000"/>
              <a:buNone/>
              <a:defRPr sz="8000">
                <a:solidFill>
                  <a:schemeClr val="lt1"/>
                </a:solidFill>
              </a:defRPr>
            </a:lvl8pPr>
            <a:lvl9pPr lvl="8">
              <a:spcBef>
                <a:spcPts val="0"/>
              </a:spcBef>
              <a:spcAft>
                <a:spcPts val="0"/>
              </a:spcAft>
              <a:buClr>
                <a:schemeClr val="lt1"/>
              </a:buClr>
              <a:buSzPts val="8000"/>
              <a:buNone/>
              <a:defRPr sz="8000">
                <a:solidFill>
                  <a:schemeClr val="lt1"/>
                </a:solidFill>
              </a:defRPr>
            </a:lvl9pPr>
          </a:lstStyle>
          <a:p>
            <a:r>
              <a:t>xx%</a:t>
            </a:r>
          </a:p>
        </p:txBody>
      </p:sp>
      <p:sp>
        <p:nvSpPr>
          <p:cNvPr id="78" name="Google Shape;78;p11"/>
          <p:cNvSpPr txBox="1"/>
          <p:nvPr>
            <p:ph idx="1" type="body"/>
          </p:nvPr>
        </p:nvSpPr>
        <p:spPr>
          <a:xfrm>
            <a:off x="729450" y="2272888"/>
            <a:ext cx="7688400" cy="15804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Clr>
                <a:schemeClr val="lt1"/>
              </a:buClr>
              <a:buSzPts val="1300"/>
              <a:buChar char="●"/>
              <a:defRPr>
                <a:solidFill>
                  <a:schemeClr val="lt1"/>
                </a:solidFill>
              </a:defRPr>
            </a:lvl1pPr>
            <a:lvl2pPr indent="-298450" lvl="1" marL="914400">
              <a:spcBef>
                <a:spcPts val="0"/>
              </a:spcBef>
              <a:spcAft>
                <a:spcPts val="0"/>
              </a:spcAft>
              <a:buClr>
                <a:schemeClr val="lt1"/>
              </a:buClr>
              <a:buSzPts val="1100"/>
              <a:buChar char="○"/>
              <a:defRPr>
                <a:solidFill>
                  <a:schemeClr val="lt1"/>
                </a:solidFill>
              </a:defRPr>
            </a:lvl2pPr>
            <a:lvl3pPr indent="-298450" lvl="2" marL="1371600">
              <a:spcBef>
                <a:spcPts val="0"/>
              </a:spcBef>
              <a:spcAft>
                <a:spcPts val="0"/>
              </a:spcAft>
              <a:buClr>
                <a:schemeClr val="lt1"/>
              </a:buClr>
              <a:buSzPts val="1100"/>
              <a:buChar char="■"/>
              <a:defRPr>
                <a:solidFill>
                  <a:schemeClr val="lt1"/>
                </a:solidFill>
              </a:defRPr>
            </a:lvl3pPr>
            <a:lvl4pPr indent="-298450" lvl="3" marL="1828800">
              <a:spcBef>
                <a:spcPts val="0"/>
              </a:spcBef>
              <a:spcAft>
                <a:spcPts val="0"/>
              </a:spcAft>
              <a:buClr>
                <a:schemeClr val="lt1"/>
              </a:buClr>
              <a:buSzPts val="1100"/>
              <a:buChar char="●"/>
              <a:defRPr>
                <a:solidFill>
                  <a:schemeClr val="lt1"/>
                </a:solidFill>
              </a:defRPr>
            </a:lvl4pPr>
            <a:lvl5pPr indent="-298450" lvl="4" marL="2286000">
              <a:spcBef>
                <a:spcPts val="0"/>
              </a:spcBef>
              <a:spcAft>
                <a:spcPts val="0"/>
              </a:spcAft>
              <a:buClr>
                <a:schemeClr val="lt1"/>
              </a:buClr>
              <a:buSzPts val="1100"/>
              <a:buChar char="○"/>
              <a:defRPr>
                <a:solidFill>
                  <a:schemeClr val="lt1"/>
                </a:solidFill>
              </a:defRPr>
            </a:lvl5pPr>
            <a:lvl6pPr indent="-298450" lvl="5" marL="2743200">
              <a:spcBef>
                <a:spcPts val="0"/>
              </a:spcBef>
              <a:spcAft>
                <a:spcPts val="0"/>
              </a:spcAft>
              <a:buClr>
                <a:schemeClr val="lt1"/>
              </a:buClr>
              <a:buSzPts val="1100"/>
              <a:buChar char="■"/>
              <a:defRPr>
                <a:solidFill>
                  <a:schemeClr val="lt1"/>
                </a:solidFill>
              </a:defRPr>
            </a:lvl6pPr>
            <a:lvl7pPr indent="-298450" lvl="6" marL="3200400">
              <a:spcBef>
                <a:spcPts val="0"/>
              </a:spcBef>
              <a:spcAft>
                <a:spcPts val="0"/>
              </a:spcAft>
              <a:buClr>
                <a:schemeClr val="lt1"/>
              </a:buClr>
              <a:buSzPts val="1100"/>
              <a:buChar char="●"/>
              <a:defRPr>
                <a:solidFill>
                  <a:schemeClr val="lt1"/>
                </a:solidFill>
              </a:defRPr>
            </a:lvl7pPr>
            <a:lvl8pPr indent="-298450" lvl="7" marL="3657600">
              <a:spcBef>
                <a:spcPts val="0"/>
              </a:spcBef>
              <a:spcAft>
                <a:spcPts val="0"/>
              </a:spcAft>
              <a:buClr>
                <a:schemeClr val="lt1"/>
              </a:buClr>
              <a:buSzPts val="1100"/>
              <a:buChar char="○"/>
              <a:defRPr>
                <a:solidFill>
                  <a:schemeClr val="lt1"/>
                </a:solidFill>
              </a:defRPr>
            </a:lvl8pPr>
            <a:lvl9pPr indent="-298450" lvl="8" marL="4114800">
              <a:spcBef>
                <a:spcPts val="0"/>
              </a:spcBef>
              <a:spcAft>
                <a:spcPts val="0"/>
              </a:spcAft>
              <a:buClr>
                <a:schemeClr val="lt1"/>
              </a:buClr>
              <a:buSzPts val="1100"/>
              <a:buChar char="■"/>
              <a:defRPr>
                <a:solidFill>
                  <a:schemeClr val="lt1"/>
                </a:solidFill>
              </a:defRPr>
            </a:lvl9pPr>
          </a:lstStyle>
          <a:p/>
        </p:txBody>
      </p:sp>
      <p:sp>
        <p:nvSpPr>
          <p:cNvPr id="79" name="Google Shape;79;p11"/>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0" name="Shape 80"/>
        <p:cNvGrpSpPr/>
        <p:nvPr/>
      </p:nvGrpSpPr>
      <p:grpSpPr>
        <a:xfrm>
          <a:off x="0" y="0"/>
          <a:ext cx="0" cy="0"/>
          <a:chOff x="0" y="0"/>
          <a:chExt cx="0" cy="0"/>
        </a:xfrm>
      </p:grpSpPr>
      <p:sp>
        <p:nvSpPr>
          <p:cNvPr id="81" name="Google Shape;81;p12"/>
          <p:cNvSpPr txBox="1"/>
          <p:nvPr>
            <p:ph idx="12" type="sldNum"/>
          </p:nvPr>
        </p:nvSpPr>
        <p:spPr>
          <a:xfrm>
            <a:off x="8536302" y="4749851"/>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l"/>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enerated Slide 1_1_1_TITLEANDBULLETS_H">
  <p:cSld name="TITLE_AND_BODY_2_1_1_1_1_1_1_1_1_1_1">
    <p:spTree>
      <p:nvGrpSpPr>
        <p:cNvPr id="82" name="Shape 82"/>
        <p:cNvGrpSpPr/>
        <p:nvPr/>
      </p:nvGrpSpPr>
      <p:grpSpPr>
        <a:xfrm>
          <a:off x="0" y="0"/>
          <a:ext cx="0" cy="0"/>
          <a:chOff x="0" y="0"/>
          <a:chExt cx="0" cy="0"/>
        </a:xfrm>
      </p:grpSpPr>
      <p:sp>
        <p:nvSpPr>
          <p:cNvPr id="83" name="Google Shape;83;p13"/>
          <p:cNvSpPr/>
          <p:nvPr>
            <p:ph idx="2" type="pic"/>
          </p:nvPr>
        </p:nvSpPr>
        <p:spPr>
          <a:xfrm>
            <a:off x="5545938" y="1519300"/>
            <a:ext cx="3090600" cy="3090600"/>
          </a:xfrm>
          <a:prstGeom prst="rect">
            <a:avLst/>
          </a:prstGeom>
          <a:noFill/>
          <a:ln>
            <a:noFill/>
          </a:ln>
        </p:spPr>
      </p:sp>
      <p:sp>
        <p:nvSpPr>
          <p:cNvPr id="84" name="Google Shape;84;p13"/>
          <p:cNvSpPr txBox="1"/>
          <p:nvPr>
            <p:ph type="title"/>
          </p:nvPr>
        </p:nvSpPr>
        <p:spPr>
          <a:xfrm>
            <a:off x="507450" y="331400"/>
            <a:ext cx="8129100" cy="796200"/>
          </a:xfrm>
          <a:prstGeom prst="rect">
            <a:avLst/>
          </a:prstGeom>
        </p:spPr>
        <p:txBody>
          <a:bodyPr anchorCtr="0" anchor="ctr" bIns="0" lIns="0" spcFirstLastPara="1" rIns="0" wrap="square" tIns="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3"/>
          <p:cNvSpPr txBox="1"/>
          <p:nvPr>
            <p:ph idx="1" type="body"/>
          </p:nvPr>
        </p:nvSpPr>
        <p:spPr>
          <a:xfrm>
            <a:off x="507456" y="1519301"/>
            <a:ext cx="4782300" cy="3090600"/>
          </a:xfrm>
          <a:prstGeom prst="rect">
            <a:avLst/>
          </a:prstGeom>
        </p:spPr>
        <p:txBody>
          <a:bodyPr anchorCtr="0" anchor="t" bIns="0" lIns="0" spcFirstLastPara="1" rIns="0" wrap="square" tIns="0">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treamline">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1pPr>
            <a:lvl2pPr lvl="1">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2pPr>
            <a:lvl3pPr lvl="2">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3pPr>
            <a:lvl4pPr lvl="3">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4pPr>
            <a:lvl5pPr lvl="4">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5pPr>
            <a:lvl6pPr lvl="5">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6pPr>
            <a:lvl7pPr lvl="6">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7pPr>
            <a:lvl8pPr lvl="7">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8pPr>
            <a:lvl9pPr lvl="8">
              <a:spcBef>
                <a:spcPts val="0"/>
              </a:spcBef>
              <a:spcAft>
                <a:spcPts val="0"/>
              </a:spcAft>
              <a:buClr>
                <a:schemeClr val="dk2"/>
              </a:buClr>
              <a:buSzPts val="2800"/>
              <a:buFont typeface="Raleway"/>
              <a:buNone/>
              <a:defRPr b="1" sz="28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accent1"/>
              </a:buClr>
              <a:buSzPts val="1300"/>
              <a:buFont typeface="Lato"/>
              <a:buChar char="●"/>
              <a:defRPr sz="1300">
                <a:solidFill>
                  <a:schemeClr val="accent1"/>
                </a:solidFill>
                <a:latin typeface="Lato"/>
                <a:ea typeface="Lato"/>
                <a:cs typeface="Lato"/>
                <a:sym typeface="Lato"/>
              </a:defRPr>
            </a:lvl1pPr>
            <a:lvl2pPr indent="-298450" lvl="1" marL="914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2pPr>
            <a:lvl3pPr indent="-298450" lvl="2" marL="1371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3pPr>
            <a:lvl4pPr indent="-298450" lvl="3" marL="1828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4pPr>
            <a:lvl5pPr indent="-298450" lvl="4" marL="22860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5pPr>
            <a:lvl6pPr indent="-298450" lvl="5" marL="27432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6pPr>
            <a:lvl7pPr indent="-298450" lvl="6" marL="32004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7pPr>
            <a:lvl8pPr indent="-298450" lvl="7" marL="36576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8pPr>
            <a:lvl9pPr indent="-298450" lvl="8" marL="4114800">
              <a:lnSpc>
                <a:spcPct val="115000"/>
              </a:lnSpc>
              <a:spcBef>
                <a:spcPts val="0"/>
              </a:spcBef>
              <a:spcAft>
                <a:spcPts val="0"/>
              </a:spcAft>
              <a:buClr>
                <a:schemeClr val="accent1"/>
              </a:buClr>
              <a:buSzPts val="1100"/>
              <a:buFont typeface="Lato"/>
              <a:buChar char="■"/>
              <a:defRPr sz="1100">
                <a:solidFill>
                  <a:schemeClr val="accent1"/>
                </a:solidFill>
                <a:latin typeface="Lato"/>
                <a:ea typeface="Lato"/>
                <a:cs typeface="Lato"/>
                <a:sym typeface="Lato"/>
              </a:defRPr>
            </a:lvl9pPr>
          </a:lstStyle>
          <a:p/>
        </p:txBody>
      </p:sp>
      <p:sp>
        <p:nvSpPr>
          <p:cNvPr id="8" name="Google Shape;8;p1"/>
          <p:cNvSpPr txBox="1"/>
          <p:nvPr>
            <p:ph idx="12" type="sldNum"/>
          </p:nvPr>
        </p:nvSpPr>
        <p:spPr>
          <a:xfrm>
            <a:off x="8536302" y="4749851"/>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Lato"/>
                <a:ea typeface="Lato"/>
                <a:cs typeface="Lato"/>
                <a:sym typeface="Lato"/>
              </a:defRPr>
            </a:lvl1pPr>
            <a:lvl2pPr lvl="1" algn="r">
              <a:buNone/>
              <a:defRPr sz="1000">
                <a:solidFill>
                  <a:schemeClr val="accent1"/>
                </a:solidFill>
                <a:latin typeface="Lato"/>
                <a:ea typeface="Lato"/>
                <a:cs typeface="Lato"/>
                <a:sym typeface="Lato"/>
              </a:defRPr>
            </a:lvl2pPr>
            <a:lvl3pPr lvl="2" algn="r">
              <a:buNone/>
              <a:defRPr sz="1000">
                <a:solidFill>
                  <a:schemeClr val="accent1"/>
                </a:solidFill>
                <a:latin typeface="Lato"/>
                <a:ea typeface="Lato"/>
                <a:cs typeface="Lato"/>
                <a:sym typeface="Lato"/>
              </a:defRPr>
            </a:lvl3pPr>
            <a:lvl4pPr lvl="3" algn="r">
              <a:buNone/>
              <a:defRPr sz="1000">
                <a:solidFill>
                  <a:schemeClr val="accent1"/>
                </a:solidFill>
                <a:latin typeface="Lato"/>
                <a:ea typeface="Lato"/>
                <a:cs typeface="Lato"/>
                <a:sym typeface="Lato"/>
              </a:defRPr>
            </a:lvl4pPr>
            <a:lvl5pPr lvl="4" algn="r">
              <a:buNone/>
              <a:defRPr sz="1000">
                <a:solidFill>
                  <a:schemeClr val="accent1"/>
                </a:solidFill>
                <a:latin typeface="Lato"/>
                <a:ea typeface="Lato"/>
                <a:cs typeface="Lato"/>
                <a:sym typeface="Lato"/>
              </a:defRPr>
            </a:lvl5pPr>
            <a:lvl6pPr lvl="5" algn="r">
              <a:buNone/>
              <a:defRPr sz="1000">
                <a:solidFill>
                  <a:schemeClr val="accent1"/>
                </a:solidFill>
                <a:latin typeface="Lato"/>
                <a:ea typeface="Lato"/>
                <a:cs typeface="Lato"/>
                <a:sym typeface="Lato"/>
              </a:defRPr>
            </a:lvl6pPr>
            <a:lvl7pPr lvl="6" algn="r">
              <a:buNone/>
              <a:defRPr sz="1000">
                <a:solidFill>
                  <a:schemeClr val="accent1"/>
                </a:solidFill>
                <a:latin typeface="Lato"/>
                <a:ea typeface="Lato"/>
                <a:cs typeface="Lato"/>
                <a:sym typeface="Lato"/>
              </a:defRPr>
            </a:lvl7pPr>
            <a:lvl8pPr lvl="7" algn="r">
              <a:buNone/>
              <a:defRPr sz="1000">
                <a:solidFill>
                  <a:schemeClr val="accent1"/>
                </a:solidFill>
                <a:latin typeface="Lato"/>
                <a:ea typeface="Lato"/>
                <a:cs typeface="Lato"/>
                <a:sym typeface="Lato"/>
              </a:defRPr>
            </a:lvl8pPr>
            <a:lvl9pPr lvl="8" algn="r">
              <a:buNone/>
              <a:defRPr sz="1000">
                <a:solidFill>
                  <a:schemeClr val="accen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pic>
        <p:nvPicPr>
          <p:cNvPr descr="Βελτίωση αυτής της διαφάνειας" id="90" name="Google Shape;90;p14"/>
          <p:cNvPicPr preferRelativeResize="0"/>
          <p:nvPr/>
        </p:nvPicPr>
        <p:blipFill>
          <a:blip r:embed="rId3">
            <a:alphaModFix/>
          </a:blip>
          <a:stretch>
            <a:fillRect/>
          </a:stretch>
        </p:blipFill>
        <p:spPr>
          <a:xfrm>
            <a:off x="0" y="0"/>
            <a:ext cx="9143545" cy="5163560"/>
          </a:xfrm>
          <a:prstGeom prst="rect">
            <a:avLst/>
          </a:prstGeom>
          <a:noFill/>
          <a:ln>
            <a:noFill/>
          </a:ln>
        </p:spPr>
      </p:pic>
      <p:sp>
        <p:nvSpPr>
          <p:cNvPr id="91" name="Google Shape;91;p14"/>
          <p:cNvSpPr txBox="1"/>
          <p:nvPr/>
        </p:nvSpPr>
        <p:spPr>
          <a:xfrm>
            <a:off x="716125" y="3612475"/>
            <a:ext cx="5327100" cy="11289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lang="el" sz="1800">
                <a:solidFill>
                  <a:schemeClr val="accent1"/>
                </a:solidFill>
                <a:latin typeface="Lato"/>
                <a:ea typeface="Lato"/>
                <a:cs typeface="Lato"/>
                <a:sym typeface="Lato"/>
              </a:rPr>
              <a:t>Tzanetis Savvas - </a:t>
            </a:r>
            <a:r>
              <a:rPr b="1" lang="el" sz="1800">
                <a:solidFill>
                  <a:schemeClr val="accent1"/>
                </a:solidFill>
                <a:latin typeface="Lato"/>
                <a:ea typeface="Lato"/>
                <a:cs typeface="Lato"/>
                <a:sym typeface="Lato"/>
              </a:rPr>
              <a:t>10889</a:t>
            </a:r>
            <a:endParaRPr b="1" sz="1800">
              <a:solidFill>
                <a:schemeClr val="accent1"/>
              </a:solidFill>
              <a:latin typeface="Lato"/>
              <a:ea typeface="Lato"/>
              <a:cs typeface="Lato"/>
              <a:sym typeface="Lato"/>
            </a:endParaRPr>
          </a:p>
          <a:p>
            <a:pPr indent="0" lvl="0" marL="0" rtl="0" algn="l">
              <a:lnSpc>
                <a:spcPct val="150000"/>
              </a:lnSpc>
              <a:spcBef>
                <a:spcPts val="0"/>
              </a:spcBef>
              <a:spcAft>
                <a:spcPts val="0"/>
              </a:spcAft>
              <a:buNone/>
            </a:pPr>
            <a:r>
              <a:rPr lang="el" sz="1800">
                <a:solidFill>
                  <a:schemeClr val="accent1"/>
                </a:solidFill>
                <a:latin typeface="Lato"/>
                <a:ea typeface="Lato"/>
                <a:cs typeface="Lato"/>
                <a:sym typeface="Lato"/>
              </a:rPr>
              <a:t>Vasileios Zoidis - </a:t>
            </a:r>
            <a:r>
              <a:rPr b="1" lang="el" sz="1800">
                <a:solidFill>
                  <a:schemeClr val="accent1"/>
                </a:solidFill>
                <a:latin typeface="Lato"/>
                <a:ea typeface="Lato"/>
                <a:cs typeface="Lato"/>
                <a:sym typeface="Lato"/>
              </a:rPr>
              <a:t>10652</a:t>
            </a:r>
            <a:endParaRPr sz="1300">
              <a:solidFill>
                <a:schemeClr val="accent1"/>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5"/>
          <p:cNvSpPr txBox="1"/>
          <p:nvPr>
            <p:ph type="title"/>
          </p:nvPr>
        </p:nvSpPr>
        <p:spPr>
          <a:xfrm>
            <a:off x="729450" y="1318650"/>
            <a:ext cx="7688700" cy="53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l" sz="2740"/>
              <a:t>Presentation </a:t>
            </a:r>
            <a:r>
              <a:rPr lang="el" sz="2740"/>
              <a:t>structure</a:t>
            </a:r>
            <a:endParaRPr sz="2740"/>
          </a:p>
          <a:p>
            <a:pPr indent="0" lvl="0" marL="0" rtl="0" algn="l">
              <a:spcBef>
                <a:spcPts val="0"/>
              </a:spcBef>
              <a:spcAft>
                <a:spcPts val="0"/>
              </a:spcAft>
              <a:buSzPts val="990"/>
              <a:buNone/>
            </a:pPr>
            <a:r>
              <a:t/>
            </a:r>
            <a:endParaRPr sz="2740"/>
          </a:p>
          <a:p>
            <a:pPr indent="0" lvl="0" marL="0" rtl="0" algn="l">
              <a:spcBef>
                <a:spcPts val="0"/>
              </a:spcBef>
              <a:spcAft>
                <a:spcPts val="0"/>
              </a:spcAft>
              <a:buSzPts val="990"/>
              <a:buNone/>
            </a:pPr>
            <a:r>
              <a:t/>
            </a:r>
            <a:endParaRPr sz="2740"/>
          </a:p>
        </p:txBody>
      </p:sp>
      <p:sp>
        <p:nvSpPr>
          <p:cNvPr id="97" name="Google Shape;97;p15"/>
          <p:cNvSpPr txBox="1"/>
          <p:nvPr>
            <p:ph idx="1" type="body"/>
          </p:nvPr>
        </p:nvSpPr>
        <p:spPr>
          <a:xfrm>
            <a:off x="839875" y="2134100"/>
            <a:ext cx="7688700" cy="2261100"/>
          </a:xfrm>
          <a:prstGeom prst="rect">
            <a:avLst/>
          </a:prstGeom>
        </p:spPr>
        <p:txBody>
          <a:bodyPr anchorCtr="0" anchor="t" bIns="91425" lIns="91425" spcFirstLastPara="1" rIns="91425" wrap="square" tIns="91425">
            <a:normAutofit/>
          </a:bodyPr>
          <a:lstStyle/>
          <a:p>
            <a:pPr indent="-355600" lvl="0" marL="457200" rtl="0" algn="l">
              <a:spcBef>
                <a:spcPts val="0"/>
              </a:spcBef>
              <a:spcAft>
                <a:spcPts val="0"/>
              </a:spcAft>
              <a:buSzPts val="2000"/>
              <a:buChar char="●"/>
            </a:pPr>
            <a:r>
              <a:rPr lang="el" sz="2000"/>
              <a:t>Introduction</a:t>
            </a:r>
            <a:endParaRPr sz="2000"/>
          </a:p>
          <a:p>
            <a:pPr indent="-355600" lvl="0" marL="457200" rtl="0" algn="l">
              <a:spcBef>
                <a:spcPts val="0"/>
              </a:spcBef>
              <a:spcAft>
                <a:spcPts val="0"/>
              </a:spcAft>
              <a:buSzPts val="2000"/>
              <a:buChar char="●"/>
            </a:pPr>
            <a:r>
              <a:rPr lang="el" sz="2000"/>
              <a:t>Historical review</a:t>
            </a:r>
            <a:endParaRPr sz="2000"/>
          </a:p>
          <a:p>
            <a:pPr indent="-355600" lvl="0" marL="457200" rtl="0" algn="l">
              <a:spcBef>
                <a:spcPts val="0"/>
              </a:spcBef>
              <a:spcAft>
                <a:spcPts val="0"/>
              </a:spcAft>
              <a:buSzPts val="2000"/>
              <a:buChar char="●"/>
            </a:pPr>
            <a:r>
              <a:rPr lang="el" sz="2000"/>
              <a:t>Hardware</a:t>
            </a:r>
            <a:endParaRPr sz="2000"/>
          </a:p>
          <a:p>
            <a:pPr indent="-355600" lvl="0" marL="457200" rtl="0" algn="l">
              <a:spcBef>
                <a:spcPts val="0"/>
              </a:spcBef>
              <a:spcAft>
                <a:spcPts val="0"/>
              </a:spcAft>
              <a:buSzPts val="2000"/>
              <a:buChar char="●"/>
            </a:pPr>
            <a:r>
              <a:rPr lang="el" sz="2000"/>
              <a:t>Software</a:t>
            </a:r>
            <a:endParaRPr sz="2000"/>
          </a:p>
          <a:p>
            <a:pPr indent="-355600" lvl="0" marL="457200" rtl="0" algn="l">
              <a:spcBef>
                <a:spcPts val="0"/>
              </a:spcBef>
              <a:spcAft>
                <a:spcPts val="0"/>
              </a:spcAft>
              <a:buSzPts val="2000"/>
              <a:buChar char="●"/>
            </a:pPr>
            <a:r>
              <a:rPr lang="el" sz="2000"/>
              <a:t>S</a:t>
            </a:r>
            <a:r>
              <a:rPr lang="el" sz="2000"/>
              <a:t>imulation/</a:t>
            </a:r>
            <a:r>
              <a:rPr lang="el" sz="2000"/>
              <a:t>Emulation</a:t>
            </a:r>
            <a:endParaRPr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16"/>
          <p:cNvSpPr txBox="1"/>
          <p:nvPr>
            <p:ph type="title"/>
          </p:nvPr>
        </p:nvSpPr>
        <p:spPr>
          <a:xfrm>
            <a:off x="729450" y="1322450"/>
            <a:ext cx="7688400" cy="1518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“As electronics continue to shrink… they become more vulnerable to cosmic radiation…”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03" name="Google Shape;103;p16"/>
          <p:cNvSpPr txBox="1"/>
          <p:nvPr>
            <p:ph idx="4294967295" type="body"/>
          </p:nvPr>
        </p:nvSpPr>
        <p:spPr>
          <a:xfrm>
            <a:off x="727800" y="3631601"/>
            <a:ext cx="7688400" cy="9012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0"/>
              </a:spcAft>
              <a:buSzPts val="770"/>
              <a:buNone/>
            </a:pPr>
            <a:r>
              <a:rPr lang="el" sz="1310">
                <a:solidFill>
                  <a:schemeClr val="lt1"/>
                </a:solidFill>
              </a:rPr>
              <a:t>-  </a:t>
            </a:r>
            <a:r>
              <a:rPr lang="el" sz="1310">
                <a:solidFill>
                  <a:schemeClr val="lt1"/>
                </a:solidFill>
              </a:rPr>
              <a:t>James F. Ziegler (IBM Researcher), who is largely credited with discovering the impact of cosmic rays on terrestrial electronics in the late 1970s</a:t>
            </a:r>
            <a:endParaRPr sz="1310">
              <a:solidFill>
                <a:schemeClr val="lt1"/>
              </a:solidFill>
            </a:endParaRPr>
          </a:p>
          <a:p>
            <a:pPr indent="0" lvl="0" marL="0" rtl="0" algn="l">
              <a:lnSpc>
                <a:spcPct val="95000"/>
              </a:lnSpc>
              <a:spcBef>
                <a:spcPts val="1200"/>
              </a:spcBef>
              <a:spcAft>
                <a:spcPts val="0"/>
              </a:spcAft>
              <a:buSzPts val="770"/>
              <a:buNone/>
            </a:pPr>
            <a:r>
              <a:t/>
            </a:r>
            <a:endParaRPr sz="1310">
              <a:solidFill>
                <a:schemeClr val="lt1"/>
              </a:solidFill>
            </a:endParaRPr>
          </a:p>
          <a:p>
            <a:pPr indent="0" lvl="0" marL="0" rtl="0" algn="l">
              <a:lnSpc>
                <a:spcPct val="95000"/>
              </a:lnSpc>
              <a:spcBef>
                <a:spcPts val="1200"/>
              </a:spcBef>
              <a:spcAft>
                <a:spcPts val="1200"/>
              </a:spcAft>
              <a:buSzPts val="770"/>
              <a:buNone/>
            </a:pPr>
            <a:r>
              <a:t/>
            </a:r>
            <a:endParaRPr sz="1310">
              <a:solidFill>
                <a:schemeClr val="lt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7"/>
          <p:cNvSpPr txBox="1"/>
          <p:nvPr>
            <p:ph type="title"/>
          </p:nvPr>
        </p:nvSpPr>
        <p:spPr>
          <a:xfrm>
            <a:off x="730000" y="1318650"/>
            <a:ext cx="3300900" cy="1687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l" sz="1940"/>
              <a:t>The small charge generated by a passing cosmic ray can alter the stored information of a transistor (flip a bit).</a:t>
            </a:r>
            <a:endParaRPr sz="1940"/>
          </a:p>
        </p:txBody>
      </p:sp>
      <p:sp>
        <p:nvSpPr>
          <p:cNvPr id="109" name="Google Shape;109;p17"/>
          <p:cNvSpPr txBox="1"/>
          <p:nvPr>
            <p:ph idx="1" type="subTitle"/>
          </p:nvPr>
        </p:nvSpPr>
        <p:spPr>
          <a:xfrm>
            <a:off x="724950" y="3161525"/>
            <a:ext cx="3536100" cy="936900"/>
          </a:xfrm>
          <a:prstGeom prst="rect">
            <a:avLst/>
          </a:prstGeom>
        </p:spPr>
        <p:txBody>
          <a:bodyPr anchorCtr="0" anchor="t" bIns="91425" lIns="91425" spcFirstLastPara="1" rIns="91425" wrap="square" tIns="91425">
            <a:noAutofit/>
          </a:bodyPr>
          <a:lstStyle/>
          <a:p>
            <a:pPr indent="0" lvl="0" marL="0" rtl="0" algn="l">
              <a:lnSpc>
                <a:spcPct val="90000"/>
              </a:lnSpc>
              <a:spcBef>
                <a:spcPts val="0"/>
              </a:spcBef>
              <a:spcAft>
                <a:spcPts val="0"/>
              </a:spcAft>
              <a:buSzPts val="358"/>
              <a:buNone/>
            </a:pPr>
            <a:r>
              <a:rPr b="1" lang="el" sz="1178"/>
              <a:t>Single Event Upset </a:t>
            </a:r>
            <a:r>
              <a:rPr lang="el" sz="1178"/>
              <a:t>(SEU): The flipping of a single bit  in a memory cell.</a:t>
            </a:r>
            <a:endParaRPr sz="1178"/>
          </a:p>
          <a:p>
            <a:pPr indent="0" lvl="0" marL="0" rtl="0" algn="l">
              <a:lnSpc>
                <a:spcPct val="90000"/>
              </a:lnSpc>
              <a:spcBef>
                <a:spcPts val="0"/>
              </a:spcBef>
              <a:spcAft>
                <a:spcPts val="0"/>
              </a:spcAft>
              <a:buSzPts val="358"/>
              <a:buNone/>
            </a:pPr>
            <a:r>
              <a:t/>
            </a:r>
            <a:endParaRPr sz="1178"/>
          </a:p>
          <a:p>
            <a:pPr indent="0" lvl="0" marL="0" rtl="0" algn="l">
              <a:lnSpc>
                <a:spcPct val="90000"/>
              </a:lnSpc>
              <a:spcBef>
                <a:spcPts val="0"/>
              </a:spcBef>
              <a:spcAft>
                <a:spcPts val="0"/>
              </a:spcAft>
              <a:buSzPts val="358"/>
              <a:buNone/>
            </a:pPr>
            <a:r>
              <a:rPr b="1" lang="el" sz="1178"/>
              <a:t>Multiple-Bit Upset </a:t>
            </a:r>
            <a:r>
              <a:rPr lang="el" sz="1178"/>
              <a:t>(MBU): The simultaneous flipping of multiple bits.</a:t>
            </a:r>
            <a:endParaRPr sz="1178"/>
          </a:p>
          <a:p>
            <a:pPr indent="0" lvl="0" marL="0" rtl="0" algn="l">
              <a:lnSpc>
                <a:spcPct val="90000"/>
              </a:lnSpc>
              <a:spcBef>
                <a:spcPts val="0"/>
              </a:spcBef>
              <a:spcAft>
                <a:spcPts val="0"/>
              </a:spcAft>
              <a:buSzPts val="358"/>
              <a:buNone/>
            </a:pPr>
            <a:r>
              <a:t/>
            </a:r>
            <a:endParaRPr sz="720"/>
          </a:p>
        </p:txBody>
      </p:sp>
      <p:pic>
        <p:nvPicPr>
          <p:cNvPr id="110" name="Google Shape;110;p17" title="1-s2.0-S0263224114000682-gr1.jpg"/>
          <p:cNvPicPr preferRelativeResize="0"/>
          <p:nvPr/>
        </p:nvPicPr>
        <p:blipFill>
          <a:blip r:embed="rId3">
            <a:alphaModFix/>
          </a:blip>
          <a:stretch>
            <a:fillRect/>
          </a:stretch>
        </p:blipFill>
        <p:spPr>
          <a:xfrm>
            <a:off x="4757900" y="1513250"/>
            <a:ext cx="4120875" cy="21170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8"/>
          <p:cNvSpPr txBox="1"/>
          <p:nvPr>
            <p:ph type="title"/>
          </p:nvPr>
        </p:nvSpPr>
        <p:spPr>
          <a:xfrm>
            <a:off x="729450" y="733950"/>
            <a:ext cx="7688400" cy="1244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sz="3600"/>
              <a:t>Fault injection is the </a:t>
            </a:r>
            <a:r>
              <a:rPr lang="el" sz="3600">
                <a:solidFill>
                  <a:srgbClr val="FF9900"/>
                </a:solidFill>
              </a:rPr>
              <a:t>key </a:t>
            </a:r>
            <a:r>
              <a:rPr lang="el" sz="3600"/>
              <a:t>to predicting system behavior.</a:t>
            </a:r>
            <a:endParaRPr sz="3600"/>
          </a:p>
          <a:p>
            <a:pPr indent="0" lvl="0" marL="0" rtl="0" algn="l">
              <a:spcBef>
                <a:spcPts val="0"/>
              </a:spcBef>
              <a:spcAft>
                <a:spcPts val="0"/>
              </a:spcAft>
              <a:buNone/>
            </a:pPr>
            <a:r>
              <a:t/>
            </a:r>
            <a:endParaRPr sz="3600"/>
          </a:p>
          <a:p>
            <a:pPr indent="0" lvl="0" marL="0" rtl="0" algn="l">
              <a:spcBef>
                <a:spcPts val="0"/>
              </a:spcBef>
              <a:spcAft>
                <a:spcPts val="0"/>
              </a:spcAft>
              <a:buNone/>
            </a:pPr>
            <a:r>
              <a:t/>
            </a:r>
            <a:endParaRPr sz="3600"/>
          </a:p>
          <a:p>
            <a:pPr indent="0" lvl="0" marL="0" rtl="0" algn="l">
              <a:spcBef>
                <a:spcPts val="0"/>
              </a:spcBef>
              <a:spcAft>
                <a:spcPts val="0"/>
              </a:spcAft>
              <a:buNone/>
            </a:pPr>
            <a:r>
              <a:t/>
            </a:r>
            <a:endParaRPr/>
          </a:p>
        </p:txBody>
      </p:sp>
      <p:sp>
        <p:nvSpPr>
          <p:cNvPr id="116" name="Google Shape;116;p18"/>
          <p:cNvSpPr txBox="1"/>
          <p:nvPr>
            <p:ph idx="1" type="body"/>
          </p:nvPr>
        </p:nvSpPr>
        <p:spPr>
          <a:xfrm>
            <a:off x="729450" y="2024327"/>
            <a:ext cx="7688400" cy="1829100"/>
          </a:xfrm>
          <a:prstGeom prst="rect">
            <a:avLst/>
          </a:prstGeom>
        </p:spPr>
        <p:txBody>
          <a:bodyPr anchorCtr="0" anchor="t" bIns="91425" lIns="91425" spcFirstLastPara="1" rIns="91425" wrap="square" tIns="91425">
            <a:normAutofit fontScale="92500" lnSpcReduction="10000"/>
          </a:bodyPr>
          <a:lstStyle/>
          <a:p>
            <a:pPr indent="0" lvl="0" marL="0" rtl="0" algn="l">
              <a:lnSpc>
                <a:spcPct val="95000"/>
              </a:lnSpc>
              <a:spcBef>
                <a:spcPts val="0"/>
              </a:spcBef>
              <a:spcAft>
                <a:spcPts val="0"/>
              </a:spcAft>
              <a:buNone/>
            </a:pPr>
            <a:r>
              <a:rPr b="1" lang="el" sz="1910">
                <a:solidFill>
                  <a:srgbClr val="FF9900"/>
                </a:solidFill>
              </a:rPr>
              <a:t>Fault injection</a:t>
            </a:r>
            <a:r>
              <a:rPr lang="el" sz="1910"/>
              <a:t> is the engineering practice of </a:t>
            </a:r>
            <a:r>
              <a:rPr lang="el" sz="1910" u="sng"/>
              <a:t>deliberately introducing errors </a:t>
            </a:r>
            <a:r>
              <a:rPr lang="el" sz="1910"/>
              <a:t>into a system </a:t>
            </a:r>
            <a:r>
              <a:rPr lang="el" sz="1910"/>
              <a:t> to observe their effects and estimate failure rates.</a:t>
            </a:r>
            <a:r>
              <a:rPr lang="el" sz="1910"/>
              <a:t> It is the practical application of the philosophy: </a:t>
            </a:r>
            <a:r>
              <a:rPr i="1" lang="el" sz="1910"/>
              <a:t>“If it's going to break, I want it to break on my desk and not when it's on Mars.”</a:t>
            </a:r>
            <a:endParaRPr i="1" sz="1910"/>
          </a:p>
          <a:p>
            <a:pPr indent="0" lvl="0" marL="0" rtl="0" algn="l">
              <a:lnSpc>
                <a:spcPct val="95000"/>
              </a:lnSpc>
              <a:spcBef>
                <a:spcPts val="1200"/>
              </a:spcBef>
              <a:spcAft>
                <a:spcPts val="1200"/>
              </a:spcAft>
              <a:buNone/>
            </a:pPr>
            <a:r>
              <a:rPr lang="el" sz="1910"/>
              <a:t>It helps engineers validate that their safety mechanisms (like </a:t>
            </a:r>
            <a:r>
              <a:rPr b="1" lang="el" sz="1910"/>
              <a:t>error correction code</a:t>
            </a:r>
            <a:r>
              <a:rPr lang="el" sz="1910"/>
              <a:t> or</a:t>
            </a:r>
            <a:r>
              <a:rPr b="1" lang="el" sz="1910"/>
              <a:t> backup systems</a:t>
            </a:r>
            <a:r>
              <a:rPr lang="el" sz="1910"/>
              <a:t>) actually work when things go wrong.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9"/>
          <p:cNvSpPr txBox="1"/>
          <p:nvPr>
            <p:ph idx="1" type="body"/>
          </p:nvPr>
        </p:nvSpPr>
        <p:spPr>
          <a:xfrm>
            <a:off x="729450" y="2037150"/>
            <a:ext cx="7688400" cy="2138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l" sz="1477"/>
              <a:t>Early efforts (1970s), driven by researchers at institutions such as </a:t>
            </a:r>
            <a:r>
              <a:rPr b="1" lang="el" sz="1477"/>
              <a:t>IBM </a:t>
            </a:r>
            <a:r>
              <a:rPr lang="el" sz="1477"/>
              <a:t>and </a:t>
            </a:r>
            <a:r>
              <a:rPr b="1" lang="el" sz="1477"/>
              <a:t>NASA</a:t>
            </a:r>
            <a:r>
              <a:rPr lang="el" sz="1477"/>
              <a:t>, focused on </a:t>
            </a:r>
            <a:r>
              <a:rPr lang="el" sz="1477" u="sng"/>
              <a:t>physically simulating </a:t>
            </a:r>
            <a:r>
              <a:rPr lang="el" sz="1477"/>
              <a:t>transient faults caused by phenomena like cosmic radiation. Techniques included </a:t>
            </a:r>
            <a:r>
              <a:rPr i="1" lang="el" sz="1477"/>
              <a:t>Heavy Ion/Radiation Injection</a:t>
            </a:r>
            <a:r>
              <a:rPr lang="el" sz="1477"/>
              <a:t>, where components were subjected to </a:t>
            </a:r>
            <a:r>
              <a:rPr lang="el" sz="1477" u="sng"/>
              <a:t>particle accelerators</a:t>
            </a:r>
            <a:r>
              <a:rPr lang="el" sz="1477"/>
              <a:t>, and </a:t>
            </a:r>
            <a:r>
              <a:rPr i="1" lang="el" sz="1477"/>
              <a:t>Pin-Level Injection</a:t>
            </a:r>
            <a:r>
              <a:rPr lang="el" sz="1477"/>
              <a:t>, which involved </a:t>
            </a:r>
            <a:r>
              <a:rPr lang="el" sz="1477" u="sng"/>
              <a:t>manually probing</a:t>
            </a:r>
            <a:r>
              <a:rPr lang="el" sz="1477"/>
              <a:t> processor pins to force voltage changes and simulate signal integrity issues. However, diminishing chip dimensions  rendered physical access impractical due to the microscopic size of pins and the buried nature of internal transistors.</a:t>
            </a:r>
            <a:endParaRPr sz="1477"/>
          </a:p>
        </p:txBody>
      </p:sp>
      <p:sp>
        <p:nvSpPr>
          <p:cNvPr id="122" name="Google Shape;122;p19"/>
          <p:cNvSpPr txBox="1"/>
          <p:nvPr>
            <p:ph type="title"/>
          </p:nvPr>
        </p:nvSpPr>
        <p:spPr>
          <a:xfrm>
            <a:off x="729450" y="733950"/>
            <a:ext cx="7688400" cy="651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sz="3600"/>
              <a:t>The Three Sections of </a:t>
            </a:r>
            <a:r>
              <a:rPr lang="el" sz="3600">
                <a:solidFill>
                  <a:srgbClr val="FF9900"/>
                </a:solidFill>
              </a:rPr>
              <a:t>Fault Injection</a:t>
            </a:r>
            <a:endParaRPr>
              <a:solidFill>
                <a:srgbClr val="FF9900"/>
              </a:solidFill>
            </a:endParaRPr>
          </a:p>
        </p:txBody>
      </p:sp>
      <p:sp>
        <p:nvSpPr>
          <p:cNvPr id="123" name="Google Shape;123;p19"/>
          <p:cNvSpPr txBox="1"/>
          <p:nvPr/>
        </p:nvSpPr>
        <p:spPr>
          <a:xfrm>
            <a:off x="729450" y="1385550"/>
            <a:ext cx="5091300" cy="651600"/>
          </a:xfrm>
          <a:prstGeom prst="rect">
            <a:avLst/>
          </a:prstGeom>
          <a:noFill/>
          <a:ln>
            <a:noFill/>
          </a:ln>
        </p:spPr>
        <p:txBody>
          <a:bodyPr anchorCtr="0" anchor="t" bIns="91425" lIns="91425" spcFirstLastPara="1" rIns="91425" wrap="square" tIns="91425">
            <a:noAutofit/>
          </a:bodyPr>
          <a:lstStyle/>
          <a:p>
            <a:pPr indent="-361950" lvl="0" marL="457200" rtl="0" algn="l">
              <a:spcBef>
                <a:spcPts val="0"/>
              </a:spcBef>
              <a:spcAft>
                <a:spcPts val="0"/>
              </a:spcAft>
              <a:buClr>
                <a:schemeClr val="lt1"/>
              </a:buClr>
              <a:buSzPts val="2100"/>
              <a:buFont typeface="Lato"/>
              <a:buAutoNum type="arabicPeriod"/>
            </a:pPr>
            <a:r>
              <a:rPr b="1" lang="el" sz="2100">
                <a:solidFill>
                  <a:schemeClr val="lt1"/>
                </a:solidFill>
                <a:latin typeface="Lato"/>
                <a:ea typeface="Lato"/>
                <a:cs typeface="Lato"/>
                <a:sym typeface="Lato"/>
              </a:rPr>
              <a:t>Hardware-based Fault Injection</a:t>
            </a:r>
            <a:endParaRPr b="1" sz="21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0"/>
          <p:cNvSpPr txBox="1"/>
          <p:nvPr>
            <p:ph idx="1" type="body"/>
          </p:nvPr>
        </p:nvSpPr>
        <p:spPr>
          <a:xfrm>
            <a:off x="729450" y="2037150"/>
            <a:ext cx="7688400" cy="2138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l" sz="1477"/>
              <a:t>The physical constraints necessitated the adoption of SoftWare-Implemented Fault Injection (</a:t>
            </a:r>
            <a:r>
              <a:rPr b="1" lang="el" sz="1477"/>
              <a:t>SWIFI</a:t>
            </a:r>
            <a:r>
              <a:rPr lang="el" sz="1477"/>
              <a:t>). This programmatic approach manipulates system state to emulate hardware failures. Pioneering tools such as </a:t>
            </a:r>
            <a:r>
              <a:rPr i="1" lang="el" sz="1477"/>
              <a:t>FIAT (1990) </a:t>
            </a:r>
            <a:r>
              <a:rPr lang="el" sz="1477"/>
              <a:t>and </a:t>
            </a:r>
            <a:r>
              <a:rPr i="1" lang="el" sz="1477"/>
              <a:t>FERRARI (1992) </a:t>
            </a:r>
            <a:r>
              <a:rPr lang="el" sz="1477"/>
              <a:t>were developed for the corruption of memory or registers. This typically involves a monitoring process that temporarily halts the CPU, alters a specific memory address bit value, and then resumes execution, simulating a cosmic-ray-induced Single Event Upset (</a:t>
            </a:r>
            <a:r>
              <a:rPr b="1" lang="el" sz="1477"/>
              <a:t>SEU</a:t>
            </a:r>
            <a:r>
              <a:rPr lang="el" sz="1477"/>
              <a:t>)</a:t>
            </a:r>
            <a:endParaRPr sz="1477"/>
          </a:p>
        </p:txBody>
      </p:sp>
      <p:sp>
        <p:nvSpPr>
          <p:cNvPr id="129" name="Google Shape;129;p20"/>
          <p:cNvSpPr txBox="1"/>
          <p:nvPr>
            <p:ph type="title"/>
          </p:nvPr>
        </p:nvSpPr>
        <p:spPr>
          <a:xfrm>
            <a:off x="729450" y="733950"/>
            <a:ext cx="7688400" cy="651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sz="3600"/>
              <a:t>The Three Sections of </a:t>
            </a:r>
            <a:r>
              <a:rPr lang="el" sz="3600">
                <a:solidFill>
                  <a:srgbClr val="FF9900"/>
                </a:solidFill>
              </a:rPr>
              <a:t>Fault Injection</a:t>
            </a:r>
            <a:endParaRPr>
              <a:solidFill>
                <a:srgbClr val="FF9900"/>
              </a:solidFill>
            </a:endParaRPr>
          </a:p>
        </p:txBody>
      </p:sp>
      <p:sp>
        <p:nvSpPr>
          <p:cNvPr id="130" name="Google Shape;130;p20"/>
          <p:cNvSpPr txBox="1"/>
          <p:nvPr/>
        </p:nvSpPr>
        <p:spPr>
          <a:xfrm>
            <a:off x="729450" y="1385550"/>
            <a:ext cx="5091300" cy="6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2100">
                <a:solidFill>
                  <a:schemeClr val="lt1"/>
                </a:solidFill>
                <a:latin typeface="Lato"/>
                <a:ea typeface="Lato"/>
                <a:cs typeface="Lato"/>
                <a:sym typeface="Lato"/>
              </a:rPr>
              <a:t>2.    </a:t>
            </a:r>
            <a:r>
              <a:rPr b="1" lang="el" sz="2100">
                <a:solidFill>
                  <a:schemeClr val="lt1"/>
                </a:solidFill>
                <a:latin typeface="Lato"/>
                <a:ea typeface="Lato"/>
                <a:cs typeface="Lato"/>
                <a:sym typeface="Lato"/>
              </a:rPr>
              <a:t> Software-Based Injection</a:t>
            </a:r>
            <a:endParaRPr b="1" sz="2100">
              <a:solidFill>
                <a:schemeClr val="lt1"/>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1"/>
          <p:cNvSpPr txBox="1"/>
          <p:nvPr>
            <p:ph idx="1" type="body"/>
          </p:nvPr>
        </p:nvSpPr>
        <p:spPr>
          <a:xfrm>
            <a:off x="729450" y="2037150"/>
            <a:ext cx="7688400" cy="2138100"/>
          </a:xfrm>
          <a:prstGeom prst="rect">
            <a:avLst/>
          </a:prstGeom>
        </p:spPr>
        <p:txBody>
          <a:bodyPr anchorCtr="0" anchor="t" bIns="91425" lIns="91425" spcFirstLastPara="1" rIns="91425" wrap="square" tIns="91425">
            <a:noAutofit/>
          </a:bodyPr>
          <a:lstStyle/>
          <a:p>
            <a:pPr indent="0" lvl="0" marL="0" rtl="0" algn="l">
              <a:spcBef>
                <a:spcPts val="0"/>
              </a:spcBef>
              <a:spcAft>
                <a:spcPts val="1200"/>
              </a:spcAft>
              <a:buNone/>
            </a:pPr>
            <a:r>
              <a:rPr lang="el" sz="1477"/>
              <a:t>Recognizing the high cost and time required for physical manufacturing, the focus shifted to pre-silicon validation. Tools like </a:t>
            </a:r>
            <a:r>
              <a:rPr b="1" lang="el" sz="1477"/>
              <a:t>MEFISTO  </a:t>
            </a:r>
            <a:r>
              <a:rPr lang="el" sz="1477"/>
              <a:t>test fault tolerance in digital systems by intentionally inserting faults into the hardware description</a:t>
            </a:r>
            <a:r>
              <a:rPr i="1" lang="el" sz="1477"/>
              <a:t> language</a:t>
            </a:r>
            <a:r>
              <a:rPr i="1" lang="el" sz="1477" u="sng"/>
              <a:t>_</a:t>
            </a:r>
            <a:r>
              <a:rPr i="1" lang="el" sz="1477"/>
              <a:t>model</a:t>
            </a:r>
            <a:r>
              <a:rPr lang="el" sz="1477"/>
              <a:t> during simulation to assess how well the system detects and recovers from errors. This virtual environment grants comprehensive control over the system's state, allowing for </a:t>
            </a:r>
            <a:r>
              <a:rPr b="1" lang="el" sz="1477"/>
              <a:t>precise fault insertion</a:t>
            </a:r>
            <a:r>
              <a:rPr lang="el" sz="1477"/>
              <a:t> and </a:t>
            </a:r>
            <a:r>
              <a:rPr b="1" lang="el" sz="1477"/>
              <a:t>observation of </a:t>
            </a:r>
            <a:r>
              <a:rPr lang="el" sz="1477"/>
              <a:t>the resulting </a:t>
            </a:r>
            <a:r>
              <a:rPr b="1" lang="el" sz="1477"/>
              <a:t>error propagation </a:t>
            </a:r>
            <a:r>
              <a:rPr lang="el" sz="1477"/>
              <a:t>through the simulated architecture</a:t>
            </a:r>
            <a:endParaRPr sz="1477"/>
          </a:p>
        </p:txBody>
      </p:sp>
      <p:sp>
        <p:nvSpPr>
          <p:cNvPr id="136" name="Google Shape;136;p21"/>
          <p:cNvSpPr txBox="1"/>
          <p:nvPr>
            <p:ph type="title"/>
          </p:nvPr>
        </p:nvSpPr>
        <p:spPr>
          <a:xfrm>
            <a:off x="729450" y="733950"/>
            <a:ext cx="7688400" cy="651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sz="3600"/>
              <a:t>The Three Sections of </a:t>
            </a:r>
            <a:r>
              <a:rPr lang="el" sz="3600">
                <a:solidFill>
                  <a:srgbClr val="FF9900"/>
                </a:solidFill>
              </a:rPr>
              <a:t>Fault Injection</a:t>
            </a:r>
            <a:endParaRPr>
              <a:solidFill>
                <a:srgbClr val="FF9900"/>
              </a:solidFill>
            </a:endParaRPr>
          </a:p>
        </p:txBody>
      </p:sp>
      <p:sp>
        <p:nvSpPr>
          <p:cNvPr id="137" name="Google Shape;137;p21"/>
          <p:cNvSpPr txBox="1"/>
          <p:nvPr/>
        </p:nvSpPr>
        <p:spPr>
          <a:xfrm>
            <a:off x="729450" y="1385550"/>
            <a:ext cx="5751900" cy="651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sz="2100">
                <a:solidFill>
                  <a:schemeClr val="lt1"/>
                </a:solidFill>
                <a:latin typeface="Lato"/>
                <a:ea typeface="Lato"/>
                <a:cs typeface="Lato"/>
                <a:sym typeface="Lato"/>
              </a:rPr>
              <a:t>3</a:t>
            </a:r>
            <a:r>
              <a:rPr b="1" lang="el" sz="2100">
                <a:solidFill>
                  <a:schemeClr val="lt1"/>
                </a:solidFill>
                <a:latin typeface="Lato"/>
                <a:ea typeface="Lato"/>
                <a:cs typeface="Lato"/>
                <a:sym typeface="Lato"/>
              </a:rPr>
              <a:t>.    Emulation/Simulation-Based Injection</a:t>
            </a:r>
            <a:endParaRPr b="1" sz="21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2"/>
          <p:cNvSpPr txBox="1"/>
          <p:nvPr>
            <p:ph type="title"/>
          </p:nvPr>
        </p:nvSpPr>
        <p:spPr>
          <a:xfrm>
            <a:off x="729450" y="516675"/>
            <a:ext cx="76884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Implementation using </a:t>
            </a:r>
            <a:r>
              <a:rPr lang="el">
                <a:solidFill>
                  <a:srgbClr val="FF9900"/>
                </a:solidFill>
              </a:rPr>
              <a:t>Hardware</a:t>
            </a:r>
            <a:endParaRPr>
              <a:solidFill>
                <a:srgbClr val="FF9900"/>
              </a:solidFill>
            </a:endParaRPr>
          </a:p>
        </p:txBody>
      </p:sp>
      <p:sp>
        <p:nvSpPr>
          <p:cNvPr id="143" name="Google Shape;143;p22"/>
          <p:cNvSpPr txBox="1"/>
          <p:nvPr/>
        </p:nvSpPr>
        <p:spPr>
          <a:xfrm>
            <a:off x="729450" y="2127225"/>
            <a:ext cx="7872600" cy="26721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FFFF"/>
              </a:buClr>
              <a:buSzPts val="1400"/>
              <a:buChar char="●"/>
            </a:pPr>
            <a:r>
              <a:rPr lang="el">
                <a:solidFill>
                  <a:srgbClr val="FFFFFF"/>
                </a:solidFill>
              </a:rPr>
              <a:t>Directly modify a systems memory to cause randomized bit-flips</a:t>
            </a:r>
            <a:endParaRPr>
              <a:solidFill>
                <a:srgbClr val="FFFFFF"/>
              </a:solidFill>
            </a:endParaRPr>
          </a:p>
          <a:p>
            <a:pPr indent="-317500" lvl="0" marL="457200" rtl="0" algn="l">
              <a:spcBef>
                <a:spcPts val="0"/>
              </a:spcBef>
              <a:spcAft>
                <a:spcPts val="0"/>
              </a:spcAft>
              <a:buClr>
                <a:srgbClr val="FFFFFF"/>
              </a:buClr>
              <a:buSzPts val="1400"/>
              <a:buChar char="●"/>
            </a:pPr>
            <a:r>
              <a:rPr lang="el">
                <a:solidFill>
                  <a:srgbClr val="FFFFFF"/>
                </a:solidFill>
              </a:rPr>
              <a:t>Create clock and/or power glitches</a:t>
            </a:r>
            <a:endParaRPr>
              <a:solidFill>
                <a:srgbClr val="FFFFFF"/>
              </a:solidFill>
            </a:endParaRPr>
          </a:p>
          <a:p>
            <a:pPr indent="-317500" lvl="0" marL="457200" rtl="0" algn="l">
              <a:spcBef>
                <a:spcPts val="0"/>
              </a:spcBef>
              <a:spcAft>
                <a:spcPts val="0"/>
              </a:spcAft>
              <a:buClr>
                <a:srgbClr val="FFFFFF"/>
              </a:buClr>
              <a:buSzPts val="1400"/>
              <a:buChar char="●"/>
            </a:pPr>
            <a:r>
              <a:rPr lang="el">
                <a:solidFill>
                  <a:srgbClr val="FFFFFF"/>
                </a:solidFill>
              </a:rPr>
              <a:t>Simulate the impact of MBUs and evaluate how the FPGA behaves in practical fault scenarios and validate MBU mitigation strategies</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l">
                <a:solidFill>
                  <a:srgbClr val="FFFFFF"/>
                </a:solidFill>
              </a:rPr>
              <a:t>This methodology allows for realistic faults to be implemented giving a close representation of what issues may arise from several factors</a:t>
            </a:r>
            <a:endParaRPr>
              <a:solidFill>
                <a:srgbClr val="FFFFFF"/>
              </a:solidFill>
            </a:endParaRPr>
          </a:p>
        </p:txBody>
      </p:sp>
      <p:sp>
        <p:nvSpPr>
          <p:cNvPr id="144" name="Google Shape;144;p22"/>
          <p:cNvSpPr txBox="1"/>
          <p:nvPr/>
        </p:nvSpPr>
        <p:spPr>
          <a:xfrm>
            <a:off x="688900" y="1342900"/>
            <a:ext cx="79131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a:solidFill>
                  <a:srgbClr val="FFFFFF"/>
                </a:solidFill>
              </a:rPr>
              <a:t>Generally, </a:t>
            </a:r>
            <a:r>
              <a:rPr b="1" lang="el">
                <a:solidFill>
                  <a:srgbClr val="FFFFFF"/>
                </a:solidFill>
              </a:rPr>
              <a:t>Hardware Fault</a:t>
            </a:r>
            <a:r>
              <a:rPr lang="el">
                <a:solidFill>
                  <a:srgbClr val="FFFFFF"/>
                </a:solidFill>
              </a:rPr>
              <a:t> Injection utilizes hardware to directly modify a systems functionality through </a:t>
            </a:r>
            <a:r>
              <a:rPr b="1" lang="el">
                <a:solidFill>
                  <a:srgbClr val="FFFFFF"/>
                </a:solidFill>
              </a:rPr>
              <a:t>FPGAs </a:t>
            </a:r>
            <a:r>
              <a:rPr lang="el">
                <a:solidFill>
                  <a:srgbClr val="FFFFFF"/>
                </a:solidFill>
              </a:rPr>
              <a:t>as well as </a:t>
            </a:r>
            <a:r>
              <a:rPr b="1" lang="el">
                <a:solidFill>
                  <a:srgbClr val="FFFFFF"/>
                </a:solidFill>
              </a:rPr>
              <a:t>EMPs</a:t>
            </a:r>
            <a:r>
              <a:rPr lang="el">
                <a:solidFill>
                  <a:srgbClr val="FFFFFF"/>
                </a:solidFill>
              </a:rPr>
              <a:t>, allowing testers to:</a:t>
            </a:r>
            <a:endParaRPr sz="1300">
              <a:solidFill>
                <a:schemeClr val="accent1"/>
              </a:solidFill>
              <a:latin typeface="Lato"/>
              <a:ea typeface="Lato"/>
              <a:cs typeface="Lato"/>
              <a:sym typeface="Lat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3"/>
          <p:cNvSpPr txBox="1"/>
          <p:nvPr>
            <p:ph type="title"/>
          </p:nvPr>
        </p:nvSpPr>
        <p:spPr>
          <a:xfrm>
            <a:off x="729450" y="516675"/>
            <a:ext cx="76884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Multi-bit Fault Injection - </a:t>
            </a:r>
            <a:r>
              <a:rPr lang="el">
                <a:solidFill>
                  <a:srgbClr val="FF9900"/>
                </a:solidFill>
              </a:rPr>
              <a:t>FISH</a:t>
            </a:r>
            <a:endParaRPr>
              <a:solidFill>
                <a:srgbClr val="FF9900"/>
              </a:solidFill>
            </a:endParaRPr>
          </a:p>
        </p:txBody>
      </p:sp>
      <p:sp>
        <p:nvSpPr>
          <p:cNvPr id="150" name="Google Shape;150;p23"/>
          <p:cNvSpPr txBox="1"/>
          <p:nvPr/>
        </p:nvSpPr>
        <p:spPr>
          <a:xfrm>
            <a:off x="729450" y="2006200"/>
            <a:ext cx="3842700" cy="2560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FFFF"/>
                </a:solidFill>
              </a:rPr>
              <a:t>Main Components:</a:t>
            </a:r>
            <a:endParaRPr sz="1600">
              <a:solidFill>
                <a:srgbClr val="FFFFFF"/>
              </a:solidFill>
            </a:endParaRPr>
          </a:p>
          <a:p>
            <a:pPr indent="-317500" lvl="0" marL="457200" rtl="0" algn="l">
              <a:spcBef>
                <a:spcPts val="0"/>
              </a:spcBef>
              <a:spcAft>
                <a:spcPts val="0"/>
              </a:spcAft>
              <a:buClr>
                <a:schemeClr val="lt1"/>
              </a:buClr>
              <a:buSzPts val="1400"/>
              <a:buFont typeface="Lato"/>
              <a:buChar char="●"/>
            </a:pPr>
            <a:r>
              <a:rPr lang="el">
                <a:solidFill>
                  <a:schemeClr val="lt1"/>
                </a:solidFill>
                <a:latin typeface="Lato"/>
                <a:ea typeface="Lato"/>
                <a:cs typeface="Lato"/>
                <a:sym typeface="Lato"/>
              </a:rPr>
              <a:t>4 x 8-bit programmable LFSRs -&gt; 32-bit pattern</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l">
                <a:solidFill>
                  <a:schemeClr val="lt1"/>
                </a:solidFill>
                <a:latin typeface="Lato"/>
                <a:ea typeface="Lato"/>
                <a:cs typeface="Lato"/>
                <a:sym typeface="Lato"/>
              </a:rPr>
              <a:t>Masking logic + FI Enable -&gt; controlled single/multi-bit upsets</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l">
                <a:solidFill>
                  <a:schemeClr val="lt1"/>
                </a:solidFill>
                <a:latin typeface="Lato"/>
                <a:ea typeface="Lato"/>
                <a:cs typeface="Lato"/>
                <a:sym typeface="Lato"/>
              </a:rPr>
              <a:t>SIPO read-back for classification / traceability</a:t>
            </a:r>
            <a:endParaRPr>
              <a:solidFill>
                <a:srgbClr val="FFFFFF"/>
              </a:solidFill>
            </a:endParaRPr>
          </a:p>
          <a:p>
            <a:pPr indent="0" lvl="0" marL="0" rtl="0" algn="l">
              <a:spcBef>
                <a:spcPts val="0"/>
              </a:spcBef>
              <a:spcAft>
                <a:spcPts val="0"/>
              </a:spcAft>
              <a:buNone/>
            </a:pPr>
            <a:r>
              <a:t/>
            </a:r>
            <a:endParaRPr>
              <a:solidFill>
                <a:srgbClr val="FFFFFF"/>
              </a:solidFill>
            </a:endParaRPr>
          </a:p>
          <a:p>
            <a:pPr indent="0" lvl="0" marL="0" rtl="0" algn="l">
              <a:spcBef>
                <a:spcPts val="0"/>
              </a:spcBef>
              <a:spcAft>
                <a:spcPts val="0"/>
              </a:spcAft>
              <a:buNone/>
            </a:pPr>
            <a:r>
              <a:rPr lang="el" sz="1600">
                <a:solidFill>
                  <a:schemeClr val="lt1"/>
                </a:solidFill>
              </a:rPr>
              <a:t>Implementation Results</a:t>
            </a:r>
            <a:r>
              <a:rPr lang="el" sz="1600">
                <a:solidFill>
                  <a:schemeClr val="lt1"/>
                </a:solidFill>
              </a:rPr>
              <a:t>:</a:t>
            </a:r>
            <a:endParaRPr sz="1600">
              <a:solidFill>
                <a:schemeClr val="lt1"/>
              </a:solidFill>
            </a:endParaRPr>
          </a:p>
          <a:p>
            <a:pPr indent="-317500" lvl="0" marL="457200" rtl="0" algn="l">
              <a:spcBef>
                <a:spcPts val="0"/>
              </a:spcBef>
              <a:spcAft>
                <a:spcPts val="0"/>
              </a:spcAft>
              <a:buClr>
                <a:schemeClr val="lt1"/>
              </a:buClr>
              <a:buSzPts val="1400"/>
              <a:buChar char="●"/>
            </a:pPr>
            <a:r>
              <a:rPr lang="el">
                <a:solidFill>
                  <a:schemeClr val="lt1"/>
                </a:solidFill>
              </a:rPr>
              <a:t>Injection rate </a:t>
            </a:r>
            <a:r>
              <a:rPr b="1" lang="el">
                <a:solidFill>
                  <a:schemeClr val="lt1"/>
                </a:solidFill>
              </a:rPr>
              <a:t>111 faults/s</a:t>
            </a:r>
            <a:endParaRPr>
              <a:solidFill>
                <a:schemeClr val="lt1"/>
              </a:solidFill>
            </a:endParaRPr>
          </a:p>
          <a:p>
            <a:pPr indent="-317500" lvl="0" marL="457200" rtl="0" algn="l">
              <a:spcBef>
                <a:spcPts val="0"/>
              </a:spcBef>
              <a:spcAft>
                <a:spcPts val="0"/>
              </a:spcAft>
              <a:buClr>
                <a:schemeClr val="lt1"/>
              </a:buClr>
              <a:buSzPts val="1400"/>
              <a:buChar char="●"/>
            </a:pPr>
            <a:r>
              <a:rPr lang="el">
                <a:solidFill>
                  <a:schemeClr val="lt1"/>
                </a:solidFill>
              </a:rPr>
              <a:t>Around </a:t>
            </a:r>
            <a:r>
              <a:rPr b="1" lang="el">
                <a:solidFill>
                  <a:schemeClr val="lt1"/>
                </a:solidFill>
              </a:rPr>
              <a:t>2x</a:t>
            </a:r>
            <a:r>
              <a:rPr lang="el">
                <a:solidFill>
                  <a:schemeClr val="lt1"/>
                </a:solidFill>
              </a:rPr>
              <a:t> faster vs BUFIT</a:t>
            </a:r>
            <a:endParaRPr>
              <a:solidFill>
                <a:srgbClr val="FFFFFF"/>
              </a:solidFill>
            </a:endParaRPr>
          </a:p>
        </p:txBody>
      </p:sp>
      <p:sp>
        <p:nvSpPr>
          <p:cNvPr id="151" name="Google Shape;151;p23"/>
          <p:cNvSpPr txBox="1"/>
          <p:nvPr/>
        </p:nvSpPr>
        <p:spPr>
          <a:xfrm>
            <a:off x="688900" y="1342900"/>
            <a:ext cx="7913100" cy="733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l">
                <a:solidFill>
                  <a:srgbClr val="FFFFFF"/>
                </a:solidFill>
              </a:rPr>
              <a:t>LFSR</a:t>
            </a:r>
            <a:r>
              <a:rPr lang="el">
                <a:solidFill>
                  <a:srgbClr val="FFFFFF"/>
                </a:solidFill>
              </a:rPr>
              <a:t>-driven </a:t>
            </a:r>
            <a:r>
              <a:rPr b="1" lang="el">
                <a:solidFill>
                  <a:srgbClr val="FFFFFF"/>
                </a:solidFill>
              </a:rPr>
              <a:t>32-bit</a:t>
            </a:r>
            <a:r>
              <a:rPr lang="el">
                <a:solidFill>
                  <a:srgbClr val="FFFFFF"/>
                </a:solidFill>
              </a:rPr>
              <a:t> configurable MBU generator. Inserts 1 - 4 bit upsets in the interconnect without altering flip-flop values associated with the design path</a:t>
            </a:r>
            <a:endParaRPr>
              <a:solidFill>
                <a:srgbClr val="FFFFFF"/>
              </a:solidFill>
            </a:endParaRPr>
          </a:p>
        </p:txBody>
      </p:sp>
      <p:pic>
        <p:nvPicPr>
          <p:cNvPr id="152" name="Google Shape;152;p23" title="Screenshot_20251211_125412.png"/>
          <p:cNvPicPr preferRelativeResize="0"/>
          <p:nvPr/>
        </p:nvPicPr>
        <p:blipFill>
          <a:blip r:embed="rId3">
            <a:alphaModFix/>
          </a:blip>
          <a:stretch>
            <a:fillRect/>
          </a:stretch>
        </p:blipFill>
        <p:spPr>
          <a:xfrm>
            <a:off x="4640625" y="2239017"/>
            <a:ext cx="3991650" cy="2342208"/>
          </a:xfrm>
          <a:prstGeom prst="rect">
            <a:avLst/>
          </a:prstGeom>
          <a:solidFill>
            <a:schemeClr val="lt2"/>
          </a:solid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sp>
        <p:nvSpPr>
          <p:cNvPr id="157" name="Google Shape;157;p24"/>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Case </a:t>
            </a:r>
            <a:r>
              <a:rPr lang="el"/>
              <a:t>Study - </a:t>
            </a:r>
            <a:r>
              <a:rPr lang="el">
                <a:solidFill>
                  <a:srgbClr val="FF9900"/>
                </a:solidFill>
              </a:rPr>
              <a:t>Software</a:t>
            </a:r>
            <a:r>
              <a:rPr lang="el">
                <a:solidFill>
                  <a:srgbClr val="FF9900"/>
                </a:solidFill>
              </a:rPr>
              <a:t> </a:t>
            </a:r>
            <a:r>
              <a:rPr lang="el"/>
              <a:t>I</a:t>
            </a:r>
            <a:r>
              <a:rPr lang="el"/>
              <a:t>mplementation </a:t>
            </a:r>
            <a:endParaRPr>
              <a:solidFill>
                <a:srgbClr val="FF9900"/>
              </a:solidFill>
            </a:endParaRPr>
          </a:p>
        </p:txBody>
      </p:sp>
      <p:sp>
        <p:nvSpPr>
          <p:cNvPr id="158" name="Google Shape;158;p24"/>
          <p:cNvSpPr txBox="1"/>
          <p:nvPr/>
        </p:nvSpPr>
        <p:spPr>
          <a:xfrm>
            <a:off x="709650" y="1858600"/>
            <a:ext cx="7872600" cy="3030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FFFF"/>
                </a:solidFill>
              </a:rPr>
              <a:t>Backround:</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 </a:t>
            </a:r>
            <a:r>
              <a:rPr lang="el" sz="1700">
                <a:solidFill>
                  <a:schemeClr val="lt1"/>
                </a:solidFill>
              </a:rPr>
              <a:t>Flight software development is expensive and time-consuming. </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Using reusable frameworks, suc</a:t>
            </a:r>
            <a:r>
              <a:rPr lang="el" sz="1700">
                <a:solidFill>
                  <a:srgbClr val="FFFFFF"/>
                </a:solidFill>
              </a:rPr>
              <a:t>h as NASA’s </a:t>
            </a:r>
            <a:r>
              <a:rPr lang="el" sz="1700">
                <a:solidFill>
                  <a:srgbClr val="FFFFFF"/>
                </a:solidFill>
              </a:rPr>
              <a:t>cFS reduces cost and risk, allowing the use of validated components.</a:t>
            </a:r>
            <a:endParaRPr sz="1700">
              <a:solidFill>
                <a:srgbClr val="FFFFFF"/>
              </a:solidFill>
            </a:endParaRPr>
          </a:p>
          <a:p>
            <a:pPr indent="0" lvl="0" marL="0" rtl="0" algn="l">
              <a:spcBef>
                <a:spcPts val="0"/>
              </a:spcBef>
              <a:spcAft>
                <a:spcPts val="0"/>
              </a:spcAft>
              <a:buNone/>
            </a:pPr>
            <a:r>
              <a:rPr lang="el" sz="1700">
                <a:solidFill>
                  <a:srgbClr val="FFFFFF"/>
                </a:solidFill>
              </a:rPr>
              <a:t>Challenge: </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Such systems in space (e.g., in low Earth orbit) are exposed to intense radiation.</a:t>
            </a:r>
            <a:endParaRPr sz="1700">
              <a:solidFill>
                <a:srgbClr val="FFFFFF"/>
              </a:solidFill>
            </a:endParaRPr>
          </a:p>
          <a:p>
            <a:pPr indent="0" lvl="0" marL="0" rtl="0" algn="l">
              <a:spcBef>
                <a:spcPts val="0"/>
              </a:spcBef>
              <a:spcAft>
                <a:spcPts val="0"/>
              </a:spcAft>
              <a:buNone/>
            </a:pPr>
            <a:r>
              <a:rPr lang="el" sz="1700">
                <a:solidFill>
                  <a:schemeClr val="lt1"/>
                </a:solidFill>
              </a:rPr>
              <a:t>Objective:</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This work aims to evaluate the robustness of this implementation against </a:t>
            </a:r>
            <a:r>
              <a:rPr lang="el" sz="1700">
                <a:solidFill>
                  <a:schemeClr val="lt1"/>
                </a:solidFill>
              </a:rPr>
              <a:t>Single-Event Upsets (SEUs) in memory and registers</a:t>
            </a:r>
            <a:r>
              <a:rPr lang="el" sz="1700">
                <a:solidFill>
                  <a:srgbClr val="FFFFFF"/>
                </a:solidFill>
              </a:rPr>
              <a:t>.</a:t>
            </a:r>
            <a:endParaRPr sz="1700">
              <a:solidFill>
                <a:srgbClr val="FFFFFF"/>
              </a:solidFill>
            </a:endParaRPr>
          </a:p>
        </p:txBody>
      </p:sp>
      <p:sp>
        <p:nvSpPr>
          <p:cNvPr id="159" name="Google Shape;159;p24"/>
          <p:cNvSpPr txBox="1"/>
          <p:nvPr/>
        </p:nvSpPr>
        <p:spPr>
          <a:xfrm>
            <a:off x="426750" y="1342900"/>
            <a:ext cx="8438400" cy="515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l" sz="1600">
                <a:solidFill>
                  <a:srgbClr val="FFFFFF"/>
                </a:solidFill>
              </a:rPr>
              <a:t>“NASA </a:t>
            </a:r>
            <a:r>
              <a:rPr i="1" lang="el" sz="1600">
                <a:solidFill>
                  <a:schemeClr val="lt1"/>
                </a:solidFill>
              </a:rPr>
              <a:t>Core Flight System (cFS)</a:t>
            </a:r>
            <a:r>
              <a:rPr i="1" lang="el" sz="1600">
                <a:solidFill>
                  <a:srgbClr val="FFFFFF"/>
                </a:solidFill>
              </a:rPr>
              <a:t> Implementation in RISC-V and </a:t>
            </a:r>
            <a:r>
              <a:rPr i="1" lang="el" sz="1600">
                <a:solidFill>
                  <a:srgbClr val="FFFFFF"/>
                </a:solidFill>
              </a:rPr>
              <a:t>FreeRTOS” - França et al.</a:t>
            </a:r>
            <a:endParaRPr i="1" sz="1500">
              <a:solidFill>
                <a:schemeClr val="accent1"/>
              </a:solidFill>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25"/>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Methodology and Experimental </a:t>
            </a:r>
            <a:r>
              <a:rPr lang="el">
                <a:solidFill>
                  <a:srgbClr val="FF9900"/>
                </a:solidFill>
              </a:rPr>
              <a:t>Setup</a:t>
            </a:r>
            <a:endParaRPr>
              <a:solidFill>
                <a:srgbClr val="FF9900"/>
              </a:solidFill>
            </a:endParaRPr>
          </a:p>
        </p:txBody>
      </p:sp>
      <p:sp>
        <p:nvSpPr>
          <p:cNvPr id="165" name="Google Shape;165;p25"/>
          <p:cNvSpPr txBox="1"/>
          <p:nvPr/>
        </p:nvSpPr>
        <p:spPr>
          <a:xfrm>
            <a:off x="470650" y="1397400"/>
            <a:ext cx="5380500" cy="34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FFFF"/>
                </a:solidFill>
              </a:rPr>
              <a:t>Hardware:</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PolarFire SoC, which features RISC-V cores</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Flight software and data are executed from RAM</a:t>
            </a:r>
            <a:endParaRPr sz="1700">
              <a:solidFill>
                <a:srgbClr val="FFFFFF"/>
              </a:solidFill>
            </a:endParaRPr>
          </a:p>
          <a:p>
            <a:pPr indent="0" lvl="0" marL="0" rtl="0" algn="l">
              <a:spcBef>
                <a:spcPts val="0"/>
              </a:spcBef>
              <a:spcAft>
                <a:spcPts val="0"/>
              </a:spcAft>
              <a:buNone/>
            </a:pPr>
            <a:r>
              <a:rPr lang="el" sz="1700">
                <a:solidFill>
                  <a:srgbClr val="FFFFFF"/>
                </a:solidFill>
              </a:rPr>
              <a:t>Framework:</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cFS embedded with the applications:</a:t>
            </a:r>
            <a:endParaRPr sz="1700">
              <a:solidFill>
                <a:srgbClr val="FFFFFF"/>
              </a:solidFill>
            </a:endParaRPr>
          </a:p>
          <a:p>
            <a:pPr indent="-336550" lvl="1" marL="914400" rtl="0" algn="l">
              <a:spcBef>
                <a:spcPts val="0"/>
              </a:spcBef>
              <a:spcAft>
                <a:spcPts val="0"/>
              </a:spcAft>
              <a:buClr>
                <a:srgbClr val="FFFFFF"/>
              </a:buClr>
              <a:buSzPts val="1700"/>
              <a:buChar char="○"/>
            </a:pPr>
            <a:r>
              <a:rPr lang="el" sz="1700">
                <a:solidFill>
                  <a:srgbClr val="FFFFFF"/>
                </a:solidFill>
              </a:rPr>
              <a:t>Huffman Encoding/Decoding</a:t>
            </a:r>
            <a:endParaRPr sz="1700">
              <a:solidFill>
                <a:srgbClr val="FFFFFF"/>
              </a:solidFill>
            </a:endParaRPr>
          </a:p>
          <a:p>
            <a:pPr indent="-336550" lvl="1" marL="914400" rtl="0" algn="l">
              <a:spcBef>
                <a:spcPts val="0"/>
              </a:spcBef>
              <a:spcAft>
                <a:spcPts val="0"/>
              </a:spcAft>
              <a:buClr>
                <a:srgbClr val="FFFFFF"/>
              </a:buClr>
              <a:buSzPts val="1700"/>
              <a:buChar char="○"/>
            </a:pPr>
            <a:r>
              <a:rPr lang="el" sz="1700">
                <a:solidFill>
                  <a:srgbClr val="FFFFFF"/>
                </a:solidFill>
              </a:rPr>
              <a:t>F</a:t>
            </a:r>
            <a:r>
              <a:rPr lang="el" sz="1700">
                <a:solidFill>
                  <a:srgbClr val="FFFFFF"/>
                </a:solidFill>
              </a:rPr>
              <a:t>ixed-Point Matrix Multiplication</a:t>
            </a:r>
            <a:endParaRPr sz="1700">
              <a:solidFill>
                <a:srgbClr val="FFFFFF"/>
              </a:solidFill>
            </a:endParaRPr>
          </a:p>
          <a:p>
            <a:pPr indent="0" lvl="0" marL="0" rtl="0" algn="l">
              <a:spcBef>
                <a:spcPts val="0"/>
              </a:spcBef>
              <a:spcAft>
                <a:spcPts val="0"/>
              </a:spcAft>
              <a:buNone/>
            </a:pPr>
            <a:r>
              <a:rPr lang="el" sz="1700">
                <a:solidFill>
                  <a:srgbClr val="FFFFFF"/>
                </a:solidFill>
              </a:rPr>
              <a:t>Fault Injection Procedure:</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Random bit-flips on the microprocessor’s RAM</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Python script used to inject errors via serial port and monitor the system response</a:t>
            </a:r>
            <a:endParaRPr sz="1700">
              <a:solidFill>
                <a:srgbClr val="FFFFFF"/>
              </a:solidFill>
            </a:endParaRPr>
          </a:p>
        </p:txBody>
      </p:sp>
      <p:pic>
        <p:nvPicPr>
          <p:cNvPr id="166" name="Google Shape;166;p25"/>
          <p:cNvPicPr preferRelativeResize="0"/>
          <p:nvPr/>
        </p:nvPicPr>
        <p:blipFill>
          <a:blip r:embed="rId3">
            <a:alphaModFix/>
          </a:blip>
          <a:stretch>
            <a:fillRect/>
          </a:stretch>
        </p:blipFill>
        <p:spPr>
          <a:xfrm>
            <a:off x="5851150" y="1526450"/>
            <a:ext cx="3158675" cy="26899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6"/>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Failure </a:t>
            </a:r>
            <a:r>
              <a:rPr lang="el">
                <a:solidFill>
                  <a:srgbClr val="FF9900"/>
                </a:solidFill>
              </a:rPr>
              <a:t>Analysis</a:t>
            </a:r>
            <a:r>
              <a:rPr lang="el"/>
              <a:t> and Task Vulnerability</a:t>
            </a:r>
            <a:endParaRPr>
              <a:solidFill>
                <a:schemeClr val="accent3"/>
              </a:solidFill>
            </a:endParaRPr>
          </a:p>
        </p:txBody>
      </p:sp>
      <p:sp>
        <p:nvSpPr>
          <p:cNvPr id="172" name="Google Shape;172;p26"/>
          <p:cNvSpPr txBox="1"/>
          <p:nvPr/>
        </p:nvSpPr>
        <p:spPr>
          <a:xfrm>
            <a:off x="637575" y="1611075"/>
            <a:ext cx="3516600" cy="3385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I/O Timeout (</a:t>
            </a:r>
            <a:r>
              <a:rPr lang="el" sz="1700">
                <a:solidFill>
                  <a:schemeClr val="lt1"/>
                </a:solidFill>
              </a:rPr>
              <a:t>79%</a:t>
            </a:r>
            <a:r>
              <a:rPr lang="el" sz="1700">
                <a:solidFill>
                  <a:srgbClr val="FFFFFF"/>
                </a:solidFill>
              </a:rPr>
              <a:t>): The flight software stopped responding</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Silent Data Corruption (</a:t>
            </a:r>
            <a:r>
              <a:rPr lang="el" sz="1700">
                <a:solidFill>
                  <a:schemeClr val="lt1"/>
                </a:solidFill>
              </a:rPr>
              <a:t>12%</a:t>
            </a:r>
            <a:r>
              <a:rPr lang="el" sz="1700">
                <a:solidFill>
                  <a:srgbClr val="FFFFFF"/>
                </a:solidFill>
              </a:rPr>
              <a:t>): The system remained active but produced incorrect results</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Result Timeout (9%): The system transmits data that cannot be decoded</a:t>
            </a:r>
            <a:endParaRPr sz="1700">
              <a:solidFill>
                <a:srgbClr val="FFFFFF"/>
              </a:solidFill>
            </a:endParaRPr>
          </a:p>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t/>
            </a:r>
            <a:endParaRPr sz="1700">
              <a:solidFill>
                <a:srgbClr val="FFFFFF"/>
              </a:solidFill>
            </a:endParaRPr>
          </a:p>
        </p:txBody>
      </p:sp>
      <p:pic>
        <p:nvPicPr>
          <p:cNvPr id="173" name="Google Shape;173;p26"/>
          <p:cNvPicPr preferRelativeResize="0"/>
          <p:nvPr/>
        </p:nvPicPr>
        <p:blipFill rotWithShape="1">
          <a:blip r:embed="rId3">
            <a:alphaModFix/>
          </a:blip>
          <a:srcRect b="9066" l="0" r="0" t="0"/>
          <a:stretch/>
        </p:blipFill>
        <p:spPr>
          <a:xfrm>
            <a:off x="4252450" y="1912763"/>
            <a:ext cx="4481975" cy="2316525"/>
          </a:xfrm>
          <a:prstGeom prst="rect">
            <a:avLst/>
          </a:prstGeom>
          <a:noFill/>
          <a:ln>
            <a:noFill/>
          </a:ln>
        </p:spPr>
      </p:pic>
      <p:sp>
        <p:nvSpPr>
          <p:cNvPr id="174" name="Google Shape;174;p26"/>
          <p:cNvSpPr txBox="1"/>
          <p:nvPr/>
        </p:nvSpPr>
        <p:spPr>
          <a:xfrm>
            <a:off x="637575" y="1330825"/>
            <a:ext cx="6752100" cy="446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700">
                <a:solidFill>
                  <a:schemeClr val="lt1"/>
                </a:solidFill>
              </a:rPr>
              <a:t> Failure Classification: Out of a total of 2,270 recorded failures:</a:t>
            </a:r>
            <a:endParaRPr sz="1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7"/>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Failure </a:t>
            </a:r>
            <a:r>
              <a:rPr lang="el">
                <a:solidFill>
                  <a:srgbClr val="FF9900"/>
                </a:solidFill>
              </a:rPr>
              <a:t>Analysis</a:t>
            </a:r>
            <a:r>
              <a:rPr lang="el"/>
              <a:t> and Task Vulnerability</a:t>
            </a:r>
            <a:endParaRPr>
              <a:solidFill>
                <a:schemeClr val="accent3"/>
              </a:solidFill>
            </a:endParaRPr>
          </a:p>
        </p:txBody>
      </p:sp>
      <p:sp>
        <p:nvSpPr>
          <p:cNvPr id="180" name="Google Shape;180;p27"/>
          <p:cNvSpPr txBox="1"/>
          <p:nvPr/>
        </p:nvSpPr>
        <p:spPr>
          <a:xfrm>
            <a:off x="729450" y="1490625"/>
            <a:ext cx="7554600" cy="2801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700">
                <a:solidFill>
                  <a:schemeClr val="lt1"/>
                </a:solidFill>
              </a:rPr>
              <a:t>Findings: </a:t>
            </a:r>
            <a:endParaRPr sz="1700">
              <a:solidFill>
                <a:schemeClr val="lt1"/>
              </a:solidFill>
            </a:endParaRPr>
          </a:p>
          <a:p>
            <a:pPr indent="-336550" lvl="0" marL="457200" rtl="0" algn="l">
              <a:spcBef>
                <a:spcPts val="0"/>
              </a:spcBef>
              <a:spcAft>
                <a:spcPts val="0"/>
              </a:spcAft>
              <a:buClr>
                <a:schemeClr val="lt1"/>
              </a:buClr>
              <a:buSzPts val="1700"/>
              <a:buChar char="●"/>
            </a:pPr>
            <a:r>
              <a:rPr lang="el" sz="1700">
                <a:solidFill>
                  <a:schemeClr val="lt1"/>
                </a:solidFill>
              </a:rPr>
              <a:t>Most failures occur right after injection (92.03% of them occurred within 1 sec and 97.31% within 1.5 sec).</a:t>
            </a:r>
            <a:endParaRPr sz="1700">
              <a:solidFill>
                <a:schemeClr val="lt1"/>
              </a:solidFill>
            </a:endParaRPr>
          </a:p>
          <a:p>
            <a:pPr indent="-336550" lvl="0" marL="457200" rtl="0" algn="l">
              <a:spcBef>
                <a:spcPts val="0"/>
              </a:spcBef>
              <a:spcAft>
                <a:spcPts val="0"/>
              </a:spcAft>
              <a:buClr>
                <a:schemeClr val="lt1"/>
              </a:buClr>
              <a:buSzPts val="1700"/>
              <a:buChar char="●"/>
            </a:pPr>
            <a:r>
              <a:rPr lang="el" sz="1700">
                <a:solidFill>
                  <a:schemeClr val="lt1"/>
                </a:solidFill>
              </a:rPr>
              <a:t>The scheduler</a:t>
            </a:r>
            <a:r>
              <a:rPr lang="el" sz="1700">
                <a:solidFill>
                  <a:schemeClr val="lt1"/>
                </a:solidFill>
              </a:rPr>
              <a:t> application was the most vulnerable, account</a:t>
            </a:r>
            <a:r>
              <a:rPr lang="el" sz="1700">
                <a:solidFill>
                  <a:schemeClr val="lt1"/>
                </a:solidFill>
              </a:rPr>
              <a:t>ing</a:t>
            </a:r>
            <a:r>
              <a:rPr lang="el" sz="1700">
                <a:solidFill>
                  <a:schemeClr val="lt1"/>
                </a:solidFill>
              </a:rPr>
              <a:t> for 21.3% of the total failures.</a:t>
            </a:r>
            <a:endParaRPr sz="1700">
              <a:solidFill>
                <a:schemeClr val="lt1"/>
              </a:solidFill>
            </a:endParaRPr>
          </a:p>
          <a:p>
            <a:pPr indent="0" lvl="0" marL="0" rtl="0" algn="l">
              <a:spcBef>
                <a:spcPts val="0"/>
              </a:spcBef>
              <a:spcAft>
                <a:spcPts val="0"/>
              </a:spcAft>
              <a:buNone/>
            </a:pPr>
            <a:r>
              <a:rPr lang="el" sz="1700">
                <a:solidFill>
                  <a:schemeClr val="lt1"/>
                </a:solidFill>
              </a:rPr>
              <a:t>Conclusions:</a:t>
            </a:r>
            <a:endParaRPr sz="1700">
              <a:solidFill>
                <a:schemeClr val="lt1"/>
              </a:solidFill>
            </a:endParaRPr>
          </a:p>
          <a:p>
            <a:pPr indent="-336550" lvl="0" marL="457200" rtl="0" algn="l">
              <a:spcBef>
                <a:spcPts val="0"/>
              </a:spcBef>
              <a:spcAft>
                <a:spcPts val="0"/>
              </a:spcAft>
              <a:buClr>
                <a:schemeClr val="lt1"/>
              </a:buClr>
              <a:buSzPts val="1700"/>
              <a:buChar char="●"/>
            </a:pPr>
            <a:r>
              <a:rPr lang="el" sz="1700">
                <a:solidFill>
                  <a:schemeClr val="lt1"/>
                </a:solidFill>
              </a:rPr>
              <a:t>The study demonstrated the viability of cFS on open platforms (RISC-V/FreeRTOS)</a:t>
            </a:r>
            <a:endParaRPr sz="1700">
              <a:solidFill>
                <a:schemeClr val="lt1"/>
              </a:solidFill>
            </a:endParaRPr>
          </a:p>
          <a:p>
            <a:pPr indent="-336550" lvl="0" marL="457200" rtl="0" algn="l">
              <a:spcBef>
                <a:spcPts val="0"/>
              </a:spcBef>
              <a:spcAft>
                <a:spcPts val="0"/>
              </a:spcAft>
              <a:buClr>
                <a:schemeClr val="lt1"/>
              </a:buClr>
              <a:buSzPts val="1700"/>
              <a:buChar char="●"/>
            </a:pPr>
            <a:r>
              <a:rPr lang="el" sz="1700">
                <a:solidFill>
                  <a:schemeClr val="lt1"/>
                </a:solidFill>
              </a:rPr>
              <a:t>Highlighted which processes (such as the scheduler) require priority in the implementation of fault tolerance techniques.</a:t>
            </a:r>
            <a:endParaRPr sz="1700">
              <a:solidFill>
                <a:schemeClr val="lt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8"/>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Fault Injection -</a:t>
            </a:r>
            <a:r>
              <a:rPr lang="el"/>
              <a:t> </a:t>
            </a:r>
            <a:r>
              <a:rPr lang="el">
                <a:solidFill>
                  <a:srgbClr val="FF9900"/>
                </a:solidFill>
              </a:rPr>
              <a:t>Simulation/ Emulation</a:t>
            </a:r>
            <a:endParaRPr>
              <a:solidFill>
                <a:srgbClr val="FF9900"/>
              </a:solidFill>
            </a:endParaRPr>
          </a:p>
        </p:txBody>
      </p:sp>
      <p:sp>
        <p:nvSpPr>
          <p:cNvPr id="186" name="Google Shape;186;p28"/>
          <p:cNvSpPr txBox="1"/>
          <p:nvPr/>
        </p:nvSpPr>
        <p:spPr>
          <a:xfrm>
            <a:off x="729450" y="1179975"/>
            <a:ext cx="7913100" cy="66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l" sz="1700">
                <a:solidFill>
                  <a:srgbClr val="FFFFFF"/>
                </a:solidFill>
              </a:rPr>
              <a:t>“Evaluation of fault injection tools for reliability estimation of microprocessor-based embedded systems” - Moreno et al.</a:t>
            </a:r>
            <a:endParaRPr i="1" sz="1600">
              <a:solidFill>
                <a:schemeClr val="accent1"/>
              </a:solidFill>
              <a:latin typeface="Lato"/>
              <a:ea typeface="Lato"/>
              <a:cs typeface="Lato"/>
              <a:sym typeface="Lato"/>
            </a:endParaRPr>
          </a:p>
        </p:txBody>
      </p:sp>
      <p:sp>
        <p:nvSpPr>
          <p:cNvPr id="187" name="Google Shape;187;p28"/>
          <p:cNvSpPr txBox="1"/>
          <p:nvPr/>
        </p:nvSpPr>
        <p:spPr>
          <a:xfrm>
            <a:off x="651600" y="1988925"/>
            <a:ext cx="7840800" cy="127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700">
                <a:solidFill>
                  <a:schemeClr val="lt1"/>
                </a:solidFill>
              </a:rPr>
              <a:t>This work compares three tools for the Texas Instruments MSP430 microcontroller, each representing a different approach to fault injection:</a:t>
            </a:r>
            <a:endParaRPr sz="1700">
              <a:solidFill>
                <a:schemeClr val="lt1"/>
              </a:solidFill>
            </a:endParaRPr>
          </a:p>
          <a:p>
            <a:pPr indent="0" lvl="0" marL="0" rtl="0" algn="l">
              <a:spcBef>
                <a:spcPts val="0"/>
              </a:spcBef>
              <a:spcAft>
                <a:spcPts val="0"/>
              </a:spcAft>
              <a:buNone/>
            </a:pPr>
            <a:r>
              <a:t/>
            </a:r>
            <a:endParaRPr sz="1700">
              <a:solidFill>
                <a:schemeClr val="lt1"/>
              </a:solidFill>
            </a:endParaRPr>
          </a:p>
          <a:p>
            <a:pPr indent="0" lvl="0" marL="0" rtl="0" algn="l">
              <a:spcBef>
                <a:spcPts val="0"/>
              </a:spcBef>
              <a:spcAft>
                <a:spcPts val="0"/>
              </a:spcAft>
              <a:buNone/>
            </a:pPr>
            <a:r>
              <a:rPr b="1" lang="el" sz="2000">
                <a:solidFill>
                  <a:schemeClr val="lt1"/>
                </a:solidFill>
              </a:rPr>
              <a:t>Naken-FIM					MiFIT				FIM</a:t>
            </a:r>
            <a:endParaRPr b="1" sz="2000">
              <a:solidFill>
                <a:schemeClr val="lt1"/>
              </a:solidFill>
            </a:endParaRPr>
          </a:p>
        </p:txBody>
      </p:sp>
      <p:sp>
        <p:nvSpPr>
          <p:cNvPr id="188" name="Google Shape;188;p28"/>
          <p:cNvSpPr txBox="1"/>
          <p:nvPr/>
        </p:nvSpPr>
        <p:spPr>
          <a:xfrm>
            <a:off x="2038350" y="3826350"/>
            <a:ext cx="1681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2100">
                <a:solidFill>
                  <a:schemeClr val="lt1"/>
                </a:solidFill>
              </a:rPr>
              <a:t>Simulation</a:t>
            </a:r>
            <a:endParaRPr sz="1500"/>
          </a:p>
        </p:txBody>
      </p:sp>
      <p:sp>
        <p:nvSpPr>
          <p:cNvPr id="189" name="Google Shape;189;p28"/>
          <p:cNvSpPr txBox="1"/>
          <p:nvPr/>
        </p:nvSpPr>
        <p:spPr>
          <a:xfrm>
            <a:off x="5750150" y="3826350"/>
            <a:ext cx="15288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2100">
                <a:solidFill>
                  <a:schemeClr val="lt1"/>
                </a:solidFill>
              </a:rPr>
              <a:t>Emulation</a:t>
            </a:r>
            <a:endParaRPr sz="1500"/>
          </a:p>
        </p:txBody>
      </p:sp>
      <p:cxnSp>
        <p:nvCxnSpPr>
          <p:cNvPr id="190" name="Google Shape;190;p28"/>
          <p:cNvCxnSpPr/>
          <p:nvPr/>
        </p:nvCxnSpPr>
        <p:spPr>
          <a:xfrm>
            <a:off x="1431550" y="3244225"/>
            <a:ext cx="686400" cy="574200"/>
          </a:xfrm>
          <a:prstGeom prst="straightConnector1">
            <a:avLst/>
          </a:prstGeom>
          <a:noFill/>
          <a:ln cap="flat" cmpd="sng" w="38100">
            <a:solidFill>
              <a:schemeClr val="lt1"/>
            </a:solidFill>
            <a:prstDash val="solid"/>
            <a:round/>
            <a:headEnd len="med" w="med" type="none"/>
            <a:tailEnd len="med" w="med" type="triangle"/>
          </a:ln>
        </p:spPr>
      </p:cxnSp>
      <p:cxnSp>
        <p:nvCxnSpPr>
          <p:cNvPr id="191" name="Google Shape;191;p28"/>
          <p:cNvCxnSpPr/>
          <p:nvPr/>
        </p:nvCxnSpPr>
        <p:spPr>
          <a:xfrm flipH="1">
            <a:off x="3308550" y="3207750"/>
            <a:ext cx="868500" cy="630300"/>
          </a:xfrm>
          <a:prstGeom prst="straightConnector1">
            <a:avLst/>
          </a:prstGeom>
          <a:noFill/>
          <a:ln cap="flat" cmpd="sng" w="38100">
            <a:solidFill>
              <a:schemeClr val="lt1"/>
            </a:solidFill>
            <a:prstDash val="solid"/>
            <a:round/>
            <a:headEnd len="med" w="med" type="none"/>
            <a:tailEnd len="med" w="med" type="triangle"/>
          </a:ln>
        </p:spPr>
      </p:cxnSp>
      <p:cxnSp>
        <p:nvCxnSpPr>
          <p:cNvPr id="192" name="Google Shape;192;p28"/>
          <p:cNvCxnSpPr>
            <a:endCxn id="189" idx="0"/>
          </p:cNvCxnSpPr>
          <p:nvPr/>
        </p:nvCxnSpPr>
        <p:spPr>
          <a:xfrm>
            <a:off x="6502250" y="3221550"/>
            <a:ext cx="12300" cy="604800"/>
          </a:xfrm>
          <a:prstGeom prst="straightConnector1">
            <a:avLst/>
          </a:prstGeom>
          <a:noFill/>
          <a:ln cap="flat" cmpd="sng" w="38100">
            <a:solidFill>
              <a:schemeClr val="lt1"/>
            </a:solidFill>
            <a:prstDash val="solid"/>
            <a:round/>
            <a:headEnd len="med" w="med" type="none"/>
            <a:tailEnd len="med" w="med" type="triangle"/>
          </a:ln>
        </p:spPr>
      </p:cxnSp>
      <p:sp>
        <p:nvSpPr>
          <p:cNvPr id="193" name="Google Shape;193;p28"/>
          <p:cNvSpPr txBox="1"/>
          <p:nvPr/>
        </p:nvSpPr>
        <p:spPr>
          <a:xfrm>
            <a:off x="1261100" y="4312200"/>
            <a:ext cx="3000000" cy="6156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a:solidFill>
                  <a:schemeClr val="lt1"/>
                </a:solidFill>
              </a:rPr>
              <a:t>Faults are injected into </a:t>
            </a:r>
            <a:r>
              <a:rPr lang="el">
                <a:solidFill>
                  <a:schemeClr val="lt1"/>
                </a:solidFill>
              </a:rPr>
              <a:t>a software </a:t>
            </a:r>
            <a:r>
              <a:rPr lang="el">
                <a:solidFill>
                  <a:schemeClr val="lt1"/>
                </a:solidFill>
              </a:rPr>
              <a:t>model of the processor.</a:t>
            </a:r>
            <a:endParaRPr>
              <a:solidFill>
                <a:schemeClr val="lt1"/>
              </a:solidFill>
            </a:endParaRPr>
          </a:p>
        </p:txBody>
      </p:sp>
      <p:sp>
        <p:nvSpPr>
          <p:cNvPr id="194" name="Google Shape;194;p28"/>
          <p:cNvSpPr txBox="1"/>
          <p:nvPr/>
        </p:nvSpPr>
        <p:spPr>
          <a:xfrm>
            <a:off x="5000631" y="4204350"/>
            <a:ext cx="3000000" cy="831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l">
                <a:solidFill>
                  <a:schemeClr val="lt1"/>
                </a:solidFill>
              </a:rPr>
              <a:t>Faults are injected into the</a:t>
            </a:r>
            <a:endParaRPr>
              <a:solidFill>
                <a:schemeClr val="lt1"/>
              </a:solidFill>
            </a:endParaRPr>
          </a:p>
          <a:p>
            <a:pPr indent="0" lvl="0" marL="0" rtl="0" algn="ctr">
              <a:spcBef>
                <a:spcPts val="0"/>
              </a:spcBef>
              <a:spcAft>
                <a:spcPts val="0"/>
              </a:spcAft>
              <a:buNone/>
            </a:pPr>
            <a:r>
              <a:rPr lang="el">
                <a:solidFill>
                  <a:schemeClr val="lt1"/>
                </a:solidFill>
              </a:rPr>
              <a:t>actual hardware via its on-chip debug inter</a:t>
            </a:r>
            <a:r>
              <a:rPr lang="el">
                <a:solidFill>
                  <a:schemeClr val="lt1"/>
                </a:solidFill>
              </a:rPr>
              <a:t>face.</a:t>
            </a:r>
            <a:endParaRPr>
              <a:solidFill>
                <a:schemeClr val="lt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9"/>
          <p:cNvSpPr txBox="1"/>
          <p:nvPr>
            <p:ph type="title"/>
          </p:nvPr>
        </p:nvSpPr>
        <p:spPr>
          <a:xfrm>
            <a:off x="729450" y="516675"/>
            <a:ext cx="7913100" cy="6633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l"/>
              <a:t>Methodology and Experimental </a:t>
            </a:r>
            <a:r>
              <a:rPr lang="el">
                <a:solidFill>
                  <a:srgbClr val="FF9900"/>
                </a:solidFill>
              </a:rPr>
              <a:t>Setup</a:t>
            </a:r>
            <a:endParaRPr>
              <a:solidFill>
                <a:srgbClr val="FF9900"/>
              </a:solidFill>
            </a:endParaRPr>
          </a:p>
        </p:txBody>
      </p:sp>
      <p:sp>
        <p:nvSpPr>
          <p:cNvPr id="200" name="Google Shape;200;p29"/>
          <p:cNvSpPr txBox="1"/>
          <p:nvPr/>
        </p:nvSpPr>
        <p:spPr>
          <a:xfrm>
            <a:off x="659700" y="1341375"/>
            <a:ext cx="4189800" cy="345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rPr lang="el" sz="1700">
                <a:solidFill>
                  <a:srgbClr val="FFFFFF"/>
                </a:solidFill>
              </a:rPr>
              <a:t>Targets: The 16 registers of the processor register file and three RAM memory areas (data, stack and program memory)</a:t>
            </a:r>
            <a:endParaRPr sz="1700">
              <a:solidFill>
                <a:srgbClr val="FFFFFF"/>
              </a:solidFill>
            </a:endParaRPr>
          </a:p>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rPr lang="el" sz="1700">
                <a:solidFill>
                  <a:srgbClr val="FFFFFF"/>
                </a:solidFill>
              </a:rPr>
              <a:t>Benchmarks: Three programs of different complexity were used (Euler, Quick Sort and Matrix Multiplication algorithms)</a:t>
            </a:r>
            <a:endParaRPr sz="1700">
              <a:solidFill>
                <a:srgbClr val="FFFFFF"/>
              </a:solidFill>
            </a:endParaRPr>
          </a:p>
          <a:p>
            <a:pPr indent="0" lvl="0" marL="0" rtl="0" algn="l">
              <a:spcBef>
                <a:spcPts val="0"/>
              </a:spcBef>
              <a:spcAft>
                <a:spcPts val="0"/>
              </a:spcAft>
              <a:buNone/>
            </a:pPr>
            <a:r>
              <a:t/>
            </a:r>
            <a:endParaRPr sz="1700">
              <a:solidFill>
                <a:srgbClr val="FFFFFF"/>
              </a:solidFill>
            </a:endParaRPr>
          </a:p>
          <a:p>
            <a:pPr indent="0" lvl="0" marL="0" rtl="0" algn="l">
              <a:spcBef>
                <a:spcPts val="0"/>
              </a:spcBef>
              <a:spcAft>
                <a:spcPts val="0"/>
              </a:spcAft>
              <a:buNone/>
            </a:pPr>
            <a:r>
              <a:rPr lang="el" sz="1700">
                <a:solidFill>
                  <a:srgbClr val="FFFFFF"/>
                </a:solidFill>
              </a:rPr>
              <a:t>Error Classification: unACE, SDC, Hang</a:t>
            </a:r>
            <a:endParaRPr sz="1700">
              <a:solidFill>
                <a:srgbClr val="FFFFFF"/>
              </a:solidFill>
            </a:endParaRPr>
          </a:p>
        </p:txBody>
      </p:sp>
      <p:pic>
        <p:nvPicPr>
          <p:cNvPr id="201" name="Google Shape;201;p29"/>
          <p:cNvPicPr preferRelativeResize="0"/>
          <p:nvPr/>
        </p:nvPicPr>
        <p:blipFill>
          <a:blip r:embed="rId3">
            <a:alphaModFix/>
          </a:blip>
          <a:stretch>
            <a:fillRect/>
          </a:stretch>
        </p:blipFill>
        <p:spPr>
          <a:xfrm>
            <a:off x="4849500" y="2049363"/>
            <a:ext cx="4037075" cy="2552675"/>
          </a:xfrm>
          <a:prstGeom prst="rect">
            <a:avLst/>
          </a:prstGeom>
          <a:noFill/>
          <a:ln>
            <a:noFill/>
          </a:ln>
        </p:spPr>
      </p:pic>
      <p:sp>
        <p:nvSpPr>
          <p:cNvPr id="202" name="Google Shape;202;p29"/>
          <p:cNvSpPr txBox="1"/>
          <p:nvPr/>
        </p:nvSpPr>
        <p:spPr>
          <a:xfrm>
            <a:off x="690600" y="1341375"/>
            <a:ext cx="7762800" cy="708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l" sz="1700">
                <a:solidFill>
                  <a:schemeClr val="lt1"/>
                </a:solidFill>
              </a:rPr>
              <a:t>Method: A single fault was injected per execution on a randomly selected bit and clock cycle (or instruction, in the case of simulators)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0"/>
          <p:cNvSpPr txBox="1"/>
          <p:nvPr>
            <p:ph type="title"/>
          </p:nvPr>
        </p:nvSpPr>
        <p:spPr>
          <a:xfrm>
            <a:off x="729450" y="516675"/>
            <a:ext cx="7913100" cy="66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3200">
                <a:latin typeface="Arial"/>
                <a:ea typeface="Arial"/>
                <a:cs typeface="Arial"/>
                <a:sym typeface="Arial"/>
              </a:rPr>
              <a:t>Key </a:t>
            </a:r>
            <a:r>
              <a:rPr lang="el" sz="3200">
                <a:solidFill>
                  <a:srgbClr val="FF9900"/>
                </a:solidFill>
                <a:latin typeface="Arial"/>
                <a:ea typeface="Arial"/>
                <a:cs typeface="Arial"/>
                <a:sym typeface="Arial"/>
              </a:rPr>
              <a:t>Results</a:t>
            </a:r>
            <a:r>
              <a:rPr lang="el" sz="3200">
                <a:latin typeface="Arial"/>
                <a:ea typeface="Arial"/>
                <a:cs typeface="Arial"/>
                <a:sym typeface="Arial"/>
              </a:rPr>
              <a:t> and Conclusions</a:t>
            </a:r>
            <a:endParaRPr sz="5200">
              <a:solidFill>
                <a:schemeClr val="accent3"/>
              </a:solidFill>
            </a:endParaRPr>
          </a:p>
        </p:txBody>
      </p:sp>
      <p:sp>
        <p:nvSpPr>
          <p:cNvPr id="208" name="Google Shape;208;p30"/>
          <p:cNvSpPr txBox="1"/>
          <p:nvPr/>
        </p:nvSpPr>
        <p:spPr>
          <a:xfrm>
            <a:off x="729450" y="1358350"/>
            <a:ext cx="7872600" cy="35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FFFF"/>
                </a:solidFill>
              </a:rPr>
              <a:t>Consistency of Simulation vs. Emulation</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Simulation tools generally provided a downward estimate (about 10%) of reliability compared to emulation on the real device.</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Major discrepancies between simulation and emulation (FIM) were often attributable to ISA simulators not implementing low-level microarchitectural features or hardware exceptions that occur on the real processor.</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Implementing an extra-time limit for simulators significantly reduced these classification differences.</a:t>
            </a:r>
            <a:endParaRPr sz="17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31"/>
          <p:cNvSpPr txBox="1"/>
          <p:nvPr>
            <p:ph type="title"/>
          </p:nvPr>
        </p:nvSpPr>
        <p:spPr>
          <a:xfrm>
            <a:off x="729450" y="516675"/>
            <a:ext cx="7913100" cy="66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3200">
                <a:latin typeface="Arial"/>
                <a:ea typeface="Arial"/>
                <a:cs typeface="Arial"/>
                <a:sym typeface="Arial"/>
              </a:rPr>
              <a:t>Key </a:t>
            </a:r>
            <a:r>
              <a:rPr lang="el" sz="3200">
                <a:solidFill>
                  <a:srgbClr val="FF9900"/>
                </a:solidFill>
                <a:latin typeface="Arial"/>
                <a:ea typeface="Arial"/>
                <a:cs typeface="Arial"/>
                <a:sym typeface="Arial"/>
              </a:rPr>
              <a:t>Results</a:t>
            </a:r>
            <a:r>
              <a:rPr lang="el" sz="3200">
                <a:latin typeface="Arial"/>
                <a:ea typeface="Arial"/>
                <a:cs typeface="Arial"/>
                <a:sym typeface="Arial"/>
              </a:rPr>
              <a:t> and Conclusions</a:t>
            </a:r>
            <a:endParaRPr sz="5200">
              <a:solidFill>
                <a:schemeClr val="accent3"/>
              </a:solidFill>
            </a:endParaRPr>
          </a:p>
        </p:txBody>
      </p:sp>
      <p:sp>
        <p:nvSpPr>
          <p:cNvPr id="214" name="Google Shape;214;p31"/>
          <p:cNvSpPr txBox="1"/>
          <p:nvPr/>
        </p:nvSpPr>
        <p:spPr>
          <a:xfrm>
            <a:off x="729450" y="1358350"/>
            <a:ext cx="7872600" cy="3589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600">
                <a:solidFill>
                  <a:srgbClr val="FFFFFF"/>
                </a:solidFill>
              </a:rPr>
              <a:t>Validation Against Real Radiation</a:t>
            </a:r>
            <a:endParaRPr sz="1600">
              <a:solidFill>
                <a:srgbClr val="FFFFFF"/>
              </a:solidFill>
            </a:endParaRPr>
          </a:p>
          <a:p>
            <a:pPr indent="-330200" lvl="0" marL="457200" rtl="0" algn="l">
              <a:spcBef>
                <a:spcPts val="0"/>
              </a:spcBef>
              <a:spcAft>
                <a:spcPts val="0"/>
              </a:spcAft>
              <a:buClr>
                <a:srgbClr val="FFFFFF"/>
              </a:buClr>
              <a:buSzPts val="1600"/>
              <a:buChar char="●"/>
            </a:pPr>
            <a:r>
              <a:rPr lang="el" sz="1600">
                <a:solidFill>
                  <a:srgbClr val="FFFFFF"/>
                </a:solidFill>
              </a:rPr>
              <a:t>Irradiation experiments using neutrons (at LANSCE) were performed on a hardened benchmark (BubbleSort).</a:t>
            </a:r>
            <a:endParaRPr sz="1600">
              <a:solidFill>
                <a:srgbClr val="FFFFFF"/>
              </a:solidFill>
            </a:endParaRPr>
          </a:p>
          <a:p>
            <a:pPr indent="-330200" lvl="0" marL="457200" rtl="0" algn="l">
              <a:spcBef>
                <a:spcPts val="0"/>
              </a:spcBef>
              <a:spcAft>
                <a:spcPts val="0"/>
              </a:spcAft>
              <a:buClr>
                <a:srgbClr val="FFFFFF"/>
              </a:buClr>
              <a:buSzPts val="1600"/>
              <a:buChar char="●"/>
            </a:pPr>
            <a:r>
              <a:rPr lang="el" sz="1600">
                <a:solidFill>
                  <a:srgbClr val="FFFFFF"/>
                </a:solidFill>
              </a:rPr>
              <a:t>T</a:t>
            </a:r>
            <a:r>
              <a:rPr lang="el" sz="1600">
                <a:solidFill>
                  <a:srgbClr val="FFFFFF"/>
                </a:solidFill>
              </a:rPr>
              <a:t>he study found that the rank order consistency was maintained: if a mitigation technique reduced the frequency of SDC/Hang faults in simulation/emulation, the same trend was observed in the real irradiation results.</a:t>
            </a:r>
            <a:endParaRPr sz="1600">
              <a:solidFill>
                <a:srgbClr val="FFFFFF"/>
              </a:solidFill>
            </a:endParaRPr>
          </a:p>
          <a:p>
            <a:pPr indent="0" lvl="0" marL="0" rtl="0" algn="l">
              <a:spcBef>
                <a:spcPts val="0"/>
              </a:spcBef>
              <a:spcAft>
                <a:spcPts val="0"/>
              </a:spcAft>
              <a:buNone/>
            </a:pPr>
            <a:r>
              <a:t/>
            </a:r>
            <a:endParaRPr sz="1600">
              <a:solidFill>
                <a:srgbClr val="FFFFFF"/>
              </a:solidFill>
            </a:endParaRPr>
          </a:p>
        </p:txBody>
      </p:sp>
      <p:pic>
        <p:nvPicPr>
          <p:cNvPr id="215" name="Google Shape;215;p31"/>
          <p:cNvPicPr preferRelativeResize="0"/>
          <p:nvPr/>
        </p:nvPicPr>
        <p:blipFill>
          <a:blip r:embed="rId3">
            <a:alphaModFix/>
          </a:blip>
          <a:stretch>
            <a:fillRect/>
          </a:stretch>
        </p:blipFill>
        <p:spPr>
          <a:xfrm>
            <a:off x="4271624" y="3038950"/>
            <a:ext cx="3770102" cy="1908600"/>
          </a:xfrm>
          <a:prstGeom prst="rect">
            <a:avLst/>
          </a:prstGeom>
          <a:noFill/>
          <a:ln>
            <a:noFill/>
          </a:ln>
        </p:spPr>
      </p:pic>
      <p:sp>
        <p:nvSpPr>
          <p:cNvPr id="216" name="Google Shape;216;p31"/>
          <p:cNvSpPr txBox="1"/>
          <p:nvPr/>
        </p:nvSpPr>
        <p:spPr>
          <a:xfrm>
            <a:off x="855525" y="2571738"/>
            <a:ext cx="3000000" cy="215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t/>
            </a:r>
            <a:endParaRPr sz="1600">
              <a:solidFill>
                <a:schemeClr val="lt1"/>
              </a:solidFill>
            </a:endParaRPr>
          </a:p>
          <a:p>
            <a:pPr indent="0" lvl="0" marL="0" rtl="0" algn="l">
              <a:spcBef>
                <a:spcPts val="0"/>
              </a:spcBef>
              <a:spcAft>
                <a:spcPts val="0"/>
              </a:spcAft>
              <a:buNone/>
            </a:pPr>
            <a:r>
              <a:rPr lang="el" sz="1600">
                <a:solidFill>
                  <a:schemeClr val="lt1"/>
                </a:solidFill>
              </a:rPr>
              <a:t>Conclusion: This partial order relation validates the use of simulators/emulators to speed up the search for the most appropriate fault mitigation technique.</a:t>
            </a:r>
            <a:endParaRPr sz="1600">
              <a:solidFill>
                <a:schemeClr val="lt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2"/>
          <p:cNvSpPr txBox="1"/>
          <p:nvPr>
            <p:ph type="title"/>
          </p:nvPr>
        </p:nvSpPr>
        <p:spPr>
          <a:xfrm>
            <a:off x="729450" y="516675"/>
            <a:ext cx="7913100" cy="663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l" sz="3200">
                <a:latin typeface="Arial"/>
                <a:ea typeface="Arial"/>
                <a:cs typeface="Arial"/>
                <a:sym typeface="Arial"/>
              </a:rPr>
              <a:t>Key </a:t>
            </a:r>
            <a:r>
              <a:rPr lang="el" sz="3200">
                <a:solidFill>
                  <a:srgbClr val="FF9900"/>
                </a:solidFill>
                <a:latin typeface="Arial"/>
                <a:ea typeface="Arial"/>
                <a:cs typeface="Arial"/>
                <a:sym typeface="Arial"/>
              </a:rPr>
              <a:t>Results</a:t>
            </a:r>
            <a:r>
              <a:rPr lang="el" sz="3200">
                <a:latin typeface="Arial"/>
                <a:ea typeface="Arial"/>
                <a:cs typeface="Arial"/>
                <a:sym typeface="Arial"/>
              </a:rPr>
              <a:t> and Conclusions</a:t>
            </a:r>
            <a:endParaRPr sz="5200">
              <a:solidFill>
                <a:schemeClr val="accent3"/>
              </a:solidFill>
            </a:endParaRPr>
          </a:p>
        </p:txBody>
      </p:sp>
      <p:sp>
        <p:nvSpPr>
          <p:cNvPr id="222" name="Google Shape;222;p32"/>
          <p:cNvSpPr txBox="1"/>
          <p:nvPr/>
        </p:nvSpPr>
        <p:spPr>
          <a:xfrm>
            <a:off x="729450" y="1358350"/>
            <a:ext cx="7872600" cy="320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l" sz="1700">
                <a:solidFill>
                  <a:srgbClr val="FFFFFF"/>
                </a:solidFill>
              </a:rPr>
              <a:t>Recommendations</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Simulators (Naken-FIM, MiFIT) are recommended for rapid design space exploration of parameterized hardening techniques due to their inherent speed.</a:t>
            </a:r>
            <a:endParaRPr sz="1700">
              <a:solidFill>
                <a:srgbClr val="FFFFFF"/>
              </a:solidFill>
            </a:endParaRPr>
          </a:p>
          <a:p>
            <a:pPr indent="-336550" lvl="0" marL="457200" rtl="0" algn="l">
              <a:spcBef>
                <a:spcPts val="0"/>
              </a:spcBef>
              <a:spcAft>
                <a:spcPts val="0"/>
              </a:spcAft>
              <a:buClr>
                <a:srgbClr val="FFFFFF"/>
              </a:buClr>
              <a:buSzPts val="1700"/>
              <a:buChar char="●"/>
            </a:pPr>
            <a:r>
              <a:rPr lang="el" sz="1700">
                <a:solidFill>
                  <a:srgbClr val="FFFFFF"/>
                </a:solidFill>
              </a:rPr>
              <a:t>Emulation or radiation tests should be used for complex control-oriented or hybrid software (e.g., ISR-based software), or when highly accurate error rate estimations are needed, as simulators lack full microarchitectural detail.</a:t>
            </a:r>
            <a:endParaRPr sz="1700">
              <a:solidFill>
                <a:srgbClr val="FFFFFF"/>
              </a:solidFill>
            </a:endParaRPr>
          </a:p>
          <a:p>
            <a:pPr indent="0" lvl="0" marL="0" rtl="0" algn="l">
              <a:spcBef>
                <a:spcPts val="0"/>
              </a:spcBef>
              <a:spcAft>
                <a:spcPts val="0"/>
              </a:spcAft>
              <a:buNone/>
            </a:pPr>
            <a:r>
              <a:t/>
            </a:r>
            <a:endParaRPr sz="1700">
              <a:solidFill>
                <a:srgbClr val="FFFFF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3"/>
          <p:cNvSpPr txBox="1"/>
          <p:nvPr/>
        </p:nvSpPr>
        <p:spPr>
          <a:xfrm>
            <a:off x="865650" y="1431450"/>
            <a:ext cx="7412700" cy="31677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rgbClr val="FFFFFF"/>
              </a:buClr>
              <a:buSzPts val="1400"/>
              <a:buFont typeface="Lato"/>
              <a:buChar char="●"/>
            </a:pPr>
            <a:r>
              <a:rPr lang="el">
                <a:solidFill>
                  <a:srgbClr val="FFFFFF"/>
                </a:solidFill>
                <a:latin typeface="Lato"/>
                <a:ea typeface="Lato"/>
                <a:cs typeface="Lato"/>
                <a:sym typeface="Lato"/>
              </a:rPr>
              <a:t>L. F. França, F. Benevenuti, L. R. Gobatto, A. C. S. Beck, J. R. F. Azambuja and F. L. Kastensmidt, "Failure Assessment of NASA cFS Case-Study Flight Software on RISC-V via Fault Injection," 38th SBC/SBMicro/IEEE Symposium on Integrated Circuits and Systems Design, Manaus, Brazil, </a:t>
            </a:r>
            <a:r>
              <a:rPr lang="el">
                <a:solidFill>
                  <a:schemeClr val="lt1"/>
                </a:solidFill>
                <a:latin typeface="Lato"/>
                <a:ea typeface="Lato"/>
                <a:cs typeface="Lato"/>
                <a:sym typeface="Lato"/>
              </a:rPr>
              <a:t>2025 </a:t>
            </a:r>
            <a:endParaRPr>
              <a:solidFill>
                <a:schemeClr val="lt1"/>
              </a:solidFill>
              <a:latin typeface="Lato"/>
              <a:ea typeface="Lato"/>
              <a:cs typeface="Lato"/>
              <a:sym typeface="Lato"/>
            </a:endParaRPr>
          </a:p>
          <a:p>
            <a:pPr indent="-317500" lvl="0" marL="457200" rtl="0" algn="l">
              <a:spcBef>
                <a:spcPts val="0"/>
              </a:spcBef>
              <a:spcAft>
                <a:spcPts val="0"/>
              </a:spcAft>
              <a:buClr>
                <a:schemeClr val="lt1"/>
              </a:buClr>
              <a:buSzPts val="1400"/>
              <a:buFont typeface="Lato"/>
              <a:buChar char="●"/>
            </a:pPr>
            <a:r>
              <a:rPr lang="el">
                <a:solidFill>
                  <a:schemeClr val="lt1"/>
                </a:solidFill>
                <a:latin typeface="Lato"/>
                <a:ea typeface="Lato"/>
                <a:cs typeface="Lato"/>
                <a:sym typeface="Lato"/>
              </a:rPr>
              <a:t>Alexander Aponte-Moreno, José Isaza-González, Alejandro Serrano-Cases, Antonio Martínez-Álvarez, Sergio Cuenca-Asensi, Felipe Restrepo-Calle, “Evaluation of fault injection tools for reliability estimation of microprocessor-based embedded systems”, Microprocessors and Microsystems, Volume 96, 2023</a:t>
            </a:r>
            <a:endParaRPr>
              <a:solidFill>
                <a:schemeClr val="lt1"/>
              </a:solidFill>
              <a:latin typeface="Lato"/>
              <a:ea typeface="Lato"/>
              <a:cs typeface="Lato"/>
              <a:sym typeface="Lato"/>
            </a:endParaRPr>
          </a:p>
          <a:p>
            <a:pPr indent="-317500" lvl="0" marL="457200" rtl="0" algn="l">
              <a:spcBef>
                <a:spcPts val="0"/>
              </a:spcBef>
              <a:spcAft>
                <a:spcPts val="0"/>
              </a:spcAft>
              <a:buClr>
                <a:srgbClr val="FFFFFF"/>
              </a:buClr>
              <a:buSzPts val="1400"/>
              <a:buFont typeface="Lato"/>
              <a:buChar char="●"/>
            </a:pPr>
            <a:r>
              <a:rPr lang="el">
                <a:solidFill>
                  <a:srgbClr val="FFFFFF"/>
                </a:solidFill>
                <a:latin typeface="Lato"/>
                <a:ea typeface="Lato"/>
                <a:cs typeface="Lato"/>
                <a:sym typeface="Lato"/>
              </a:rPr>
              <a:t>Kim C, Lee D, Na J. “A Comparison of Reliability and Resource Utilization of Radiation Fault Tolerance Mechanisms in Spaceborne Electronic Systems.” Aerospace, 2025</a:t>
            </a:r>
            <a:endParaRPr>
              <a:solidFill>
                <a:srgbClr val="FFFFFF"/>
              </a:solidFill>
              <a:latin typeface="Lato"/>
              <a:ea typeface="Lato"/>
              <a:cs typeface="Lato"/>
              <a:sym typeface="Lato"/>
            </a:endParaRPr>
          </a:p>
          <a:p>
            <a:pPr indent="-317500" lvl="0" marL="457200" rtl="0" algn="l">
              <a:spcBef>
                <a:spcPts val="0"/>
              </a:spcBef>
              <a:spcAft>
                <a:spcPts val="0"/>
              </a:spcAft>
              <a:buClr>
                <a:srgbClr val="FFFFFF"/>
              </a:buClr>
              <a:buSzPts val="1400"/>
              <a:buFont typeface="Lato"/>
              <a:buChar char="●"/>
            </a:pPr>
            <a:r>
              <a:rPr lang="el">
                <a:solidFill>
                  <a:srgbClr val="FFFFFF"/>
                </a:solidFill>
                <a:latin typeface="Lato"/>
                <a:ea typeface="Lato"/>
                <a:cs typeface="Lato"/>
                <a:sym typeface="Lato"/>
              </a:rPr>
              <a:t>Shandilya, Rahul &amp; Sharma, R., “A programmable Multi-Bit Fault Injection for Embedded System.” Sustainable Engineering and Innovation, 7, 2025</a:t>
            </a:r>
            <a:endParaRPr>
              <a:solidFill>
                <a:srgbClr val="FFFFFF"/>
              </a:solidFill>
              <a:latin typeface="Lato"/>
              <a:ea typeface="Lato"/>
              <a:cs typeface="Lato"/>
              <a:sym typeface="Lato"/>
            </a:endParaRPr>
          </a:p>
        </p:txBody>
      </p:sp>
      <p:sp>
        <p:nvSpPr>
          <p:cNvPr id="228" name="Google Shape;228;p33"/>
          <p:cNvSpPr txBox="1"/>
          <p:nvPr>
            <p:ph type="title"/>
          </p:nvPr>
        </p:nvSpPr>
        <p:spPr>
          <a:xfrm>
            <a:off x="657775" y="468000"/>
            <a:ext cx="7688400" cy="1518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a:t>References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34"/>
          <p:cNvSpPr txBox="1"/>
          <p:nvPr>
            <p:ph type="ctrTitle"/>
          </p:nvPr>
        </p:nvSpPr>
        <p:spPr>
          <a:xfrm>
            <a:off x="729450" y="1459275"/>
            <a:ext cx="7688100" cy="8028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l" sz="4000"/>
              <a:t>Thank You!</a:t>
            </a:r>
            <a:endParaRPr sz="4000"/>
          </a:p>
        </p:txBody>
      </p:sp>
      <p:sp>
        <p:nvSpPr>
          <p:cNvPr id="234" name="Google Shape;234;p34"/>
          <p:cNvSpPr txBox="1"/>
          <p:nvPr>
            <p:ph idx="1" type="subTitle"/>
          </p:nvPr>
        </p:nvSpPr>
        <p:spPr>
          <a:xfrm>
            <a:off x="729625" y="2343675"/>
            <a:ext cx="7688100" cy="1370400"/>
          </a:xfrm>
          <a:prstGeom prst="rect">
            <a:avLst/>
          </a:prstGeom>
        </p:spPr>
        <p:txBody>
          <a:bodyPr anchorCtr="0" anchor="t" bIns="91425" lIns="91425" spcFirstLastPara="1" rIns="91425" wrap="square" tIns="91425">
            <a:normAutofit/>
          </a:bodyPr>
          <a:lstStyle/>
          <a:p>
            <a:pPr indent="0" lvl="0" marL="0" rtl="0" algn="l">
              <a:lnSpc>
                <a:spcPct val="150000"/>
              </a:lnSpc>
              <a:spcBef>
                <a:spcPts val="0"/>
              </a:spcBef>
              <a:spcAft>
                <a:spcPts val="0"/>
              </a:spcAft>
              <a:buNone/>
            </a:pPr>
            <a:r>
              <a:rPr b="1" lang="el" sz="2100"/>
              <a:t>Any questions?</a:t>
            </a:r>
            <a:endParaRPr b="1" sz="2100"/>
          </a:p>
        </p:txBody>
      </p:sp>
    </p:spTree>
  </p:cSld>
  <p:clrMapOvr>
    <a:masterClrMapping/>
  </p:clrMapOvr>
</p:sld>
</file>

<file path=ppt/theme/theme1.xml><?xml version="1.0" encoding="utf-8"?>
<a:theme xmlns:a="http://schemas.openxmlformats.org/drawingml/2006/main" xmlns:r="http://schemas.openxmlformats.org/officeDocument/2006/relationships" name="Streamline">
  <a:themeElements>
    <a:clrScheme name="Streamline">
      <a:dk1>
        <a:srgbClr val="1A9988"/>
      </a:dk1>
      <a:lt1>
        <a:srgbClr val="FFFFFF"/>
      </a:lt1>
      <a:dk2>
        <a:srgbClr val="1A1A1A"/>
      </a:dk2>
      <a:lt2>
        <a:srgbClr val="E9EDEE"/>
      </a:lt2>
      <a:accent1>
        <a:srgbClr val="595959"/>
      </a:accent1>
      <a:accent2>
        <a:srgbClr val="6AA4C8"/>
      </a:accent2>
      <a:accent3>
        <a:srgbClr val="EB5600"/>
      </a:accent3>
      <a:accent4>
        <a:srgbClr val="A2FFE8"/>
      </a:accent4>
      <a:accent5>
        <a:srgbClr val="1C3678"/>
      </a:accent5>
      <a:accent6>
        <a:srgbClr val="FFB8A2"/>
      </a:accent6>
      <a:hlink>
        <a:srgbClr val="1C3678"/>
      </a:hlink>
      <a:folHlink>
        <a:srgbClr val="1C367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